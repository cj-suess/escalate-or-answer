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E36"/>
        </a:solidFill>
      </p:bgPr>
    </p:bg>
    <p:spTree>
      <p:nvGrpSpPr>
        <p:cNvPr id="1" name=""/>
        <p:cNvGrpSpPr/>
        <p:nvPr/>
      </p:nvGrpSpPr>
      <p:grpSpPr>
        <a:xfrm>
          <a:off x="0" y="0"/>
          <a:ext cx="0" cy="0"/>
          <a:chOff x="0" y="0"/>
          <a:chExt cx="0" cy="0"/>
        </a:xfrm>
      </p:grpSpPr>
      <p:sp>
        <p:nvSpPr>
          <p:cNvPr id="2" name="Shape 0"/>
          <p:cNvSpPr/>
          <p:nvPr/>
        </p:nvSpPr>
        <p:spPr>
          <a:xfrm>
            <a:off x="8778240" y="-1463040"/>
            <a:ext cx="5029200" cy="5029200"/>
          </a:xfrm>
          <a:prstGeom prst="ellipse">
            <a:avLst/>
          </a:prstGeom>
          <a:solidFill>
            <a:srgbClr val="00A896">
              <a:alpha val="12000"/>
            </a:srgbClr>
          </a:solidFill>
          <a:ln/>
        </p:spPr>
      </p:sp>
      <p:sp>
        <p:nvSpPr>
          <p:cNvPr id="3" name="Shape 1"/>
          <p:cNvSpPr/>
          <p:nvPr/>
        </p:nvSpPr>
        <p:spPr>
          <a:xfrm>
            <a:off x="10332720" y="4206240"/>
            <a:ext cx="3840480" cy="3840480"/>
          </a:xfrm>
          <a:prstGeom prst="ellipse">
            <a:avLst/>
          </a:prstGeom>
          <a:solidFill>
            <a:srgbClr val="02C39A">
              <a:alpha val="10000"/>
            </a:srgbClr>
          </a:solidFill>
          <a:ln/>
        </p:spPr>
      </p:sp>
      <p:sp>
        <p:nvSpPr>
          <p:cNvPr id="4" name="Text 2"/>
          <p:cNvSpPr txBox="1"/>
          <p:nvPr/>
        </p:nvSpPr>
        <p:spPr>
          <a:xfrm>
            <a:off x="640080" y="1417320"/>
            <a:ext cx="7315200" cy="457200"/>
          </a:xfrm>
          <a:prstGeom prst="rect">
            <a:avLst/>
          </a:prstGeom>
          <a:noFill/>
          <a:ln/>
        </p:spPr>
        <p:txBody>
          <a:bodyPr wrap="square" lIns="0" tIns="0" rIns="0" bIns="0" rtlCol="0" anchor="ctr"/>
          <a:lstStyle/>
          <a:p>
            <a:pPr indent="0" marL="0">
              <a:buNone/>
            </a:pPr>
            <a:r>
              <a:rPr lang="en-US" sz="1600" b="1" spc="300" kern="0" dirty="0">
                <a:solidFill>
                  <a:srgbClr val="02C39A"/>
                </a:solidFill>
                <a:latin typeface="Calibri" pitchFamily="34" charset="0"/>
                <a:ea typeface="Calibri" pitchFamily="34" charset="-122"/>
                <a:cs typeface="Calibri" pitchFamily="34" charset="-120"/>
              </a:rPr>
              <a:t>RELATED WORK</a:t>
            </a:r>
            <a:endParaRPr lang="en-US" sz="1600" dirty="0"/>
          </a:p>
        </p:txBody>
      </p:sp>
      <p:sp>
        <p:nvSpPr>
          <p:cNvPr id="5" name="Text 3"/>
          <p:cNvSpPr txBox="1"/>
          <p:nvPr/>
        </p:nvSpPr>
        <p:spPr>
          <a:xfrm>
            <a:off x="594360" y="1874520"/>
            <a:ext cx="9601200"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Escalate or Answer</a:t>
            </a:r>
            <a:endParaRPr lang="en-US" sz="4400" dirty="0"/>
          </a:p>
        </p:txBody>
      </p:sp>
      <p:sp>
        <p:nvSpPr>
          <p:cNvPr id="6" name="Text 4"/>
          <p:cNvSpPr txBox="1"/>
          <p:nvPr/>
        </p:nvSpPr>
        <p:spPr>
          <a:xfrm>
            <a:off x="640080" y="2971800"/>
            <a:ext cx="8778240" cy="822960"/>
          </a:xfrm>
          <a:prstGeom prst="rect">
            <a:avLst/>
          </a:prstGeom>
          <a:noFill/>
          <a:ln/>
        </p:spPr>
        <p:txBody>
          <a:bodyPr wrap="square" lIns="0" tIns="0" rIns="0" bIns="0" rtlCol="0" anchor="ctr"/>
          <a:lstStyle/>
          <a:p>
            <a:pPr indent="0" marL="0">
              <a:buNone/>
            </a:pPr>
            <a:r>
              <a:rPr lang="en-US" sz="1800" i="1" dirty="0">
                <a:solidFill>
                  <a:srgbClr val="CFE8E6"/>
                </a:solidFill>
                <a:latin typeface="Calibri" pitchFamily="34" charset="0"/>
                <a:ea typeface="Calibri" pitchFamily="34" charset="-122"/>
                <a:cs typeface="Calibri" pitchFamily="34" charset="-120"/>
              </a:rPr>
              <a:t>Eight sources grounding a confidence-triggered escalation manipulation in agentic RAG</a:t>
            </a:r>
            <a:endParaRPr lang="en-US" sz="1800" dirty="0"/>
          </a:p>
        </p:txBody>
      </p:sp>
      <p:sp>
        <p:nvSpPr>
          <p:cNvPr id="7" name="Text 5"/>
          <p:cNvSpPr txBox="1"/>
          <p:nvPr/>
        </p:nvSpPr>
        <p:spPr>
          <a:xfrm>
            <a:off x="640080" y="5806440"/>
            <a:ext cx="9144000" cy="365760"/>
          </a:xfrm>
          <a:prstGeom prst="rect">
            <a:avLst/>
          </a:prstGeom>
          <a:noFill/>
          <a:ln/>
        </p:spPr>
        <p:txBody>
          <a:bodyPr wrap="square" lIns="0" tIns="0" rIns="0" bIns="0" rtlCol="0" anchor="ctr"/>
          <a:lstStyle/>
          <a:p>
            <a:pPr indent="0" marL="0">
              <a:buNone/>
            </a:pPr>
            <a:r>
              <a:rPr lang="en-US" sz="1300" dirty="0">
                <a:solidFill>
                  <a:srgbClr val="9FC7C4"/>
                </a:solidFill>
                <a:latin typeface="Calibri" pitchFamily="34" charset="0"/>
                <a:ea typeface="Calibri" pitchFamily="34" charset="-122"/>
                <a:cs typeface="Calibri" pitchFamily="34" charset="-120"/>
              </a:rPr>
              <a:t>Coen Petto  ·  Cameron Suess  ·  Colorado State University  ·  CS 567</a:t>
            </a:r>
            <a:endParaRPr lang="en-US" sz="1300" dirty="0"/>
          </a:p>
        </p:txBody>
      </p:sp>
      <p:sp>
        <p:nvSpPr>
          <p:cNvPr id="8" name="Text 6"/>
          <p:cNvSpPr txBox="1"/>
          <p:nvPr/>
        </p:nvSpPr>
        <p:spPr>
          <a:xfrm>
            <a:off x="11475720" y="6446520"/>
            <a:ext cx="548640" cy="320040"/>
          </a:xfrm>
          <a:prstGeom prst="rect">
            <a:avLst/>
          </a:prstGeom>
          <a:noFill/>
          <a:ln/>
        </p:spPr>
        <p:txBody>
          <a:bodyPr wrap="square" lIns="0" tIns="0" rIns="0" bIns="0" rtlCol="0" anchor="ctr"/>
          <a:lstStyle/>
          <a:p>
            <a:pPr algn="r" indent="0" marL="0">
              <a:buNone/>
            </a:pPr>
            <a:r>
              <a:rPr lang="en-US" sz="1100" dirty="0">
                <a:solidFill>
                  <a:srgbClr val="4C6B70"/>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502920"/>
            <a:ext cx="2971800" cy="5715000"/>
          </a:xfrm>
          <a:prstGeom prst="roundRect">
            <a:avLst>
              <a:gd name="adj" fmla="val 3692"/>
            </a:avLst>
          </a:prstGeom>
          <a:solidFill>
            <a:srgbClr val="028090"/>
          </a:solidFill>
          <a:ln/>
        </p:spPr>
      </p:sp>
      <p:sp>
        <p:nvSpPr>
          <p:cNvPr id="3" name="Text 1"/>
          <p:cNvSpPr txBox="1"/>
          <p:nvPr/>
        </p:nvSpPr>
        <p:spPr>
          <a:xfrm>
            <a:off x="731520" y="777240"/>
            <a:ext cx="2514600" cy="365760"/>
          </a:xfrm>
          <a:prstGeom prst="rect">
            <a:avLst/>
          </a:prstGeom>
          <a:noFill/>
          <a:ln/>
        </p:spPr>
        <p:txBody>
          <a:bodyPr wrap="square" lIns="0" tIns="0" rIns="0" bIns="0" rtlCol="0" anchor="ctr"/>
          <a:lstStyle/>
          <a:p>
            <a:pPr indent="0" marL="0">
              <a:buNone/>
            </a:pPr>
            <a:r>
              <a:rPr lang="en-US" sz="1300" b="1" spc="200" kern="0" dirty="0">
                <a:solidFill>
                  <a:srgbClr val="BFE3E0"/>
                </a:solidFill>
                <a:latin typeface="Calibri" pitchFamily="34" charset="0"/>
                <a:ea typeface="Calibri" pitchFamily="34" charset="-122"/>
                <a:cs typeface="Calibri" pitchFamily="34" charset="-120"/>
              </a:rPr>
              <a:t>PAPER 1</a:t>
            </a:r>
            <a:endParaRPr lang="en-US" sz="1300" dirty="0"/>
          </a:p>
        </p:txBody>
      </p:sp>
      <p:sp>
        <p:nvSpPr>
          <p:cNvPr id="4" name="Text 2"/>
          <p:cNvSpPr txBox="1"/>
          <p:nvPr/>
        </p:nvSpPr>
        <p:spPr>
          <a:xfrm>
            <a:off x="731520" y="1143000"/>
            <a:ext cx="2514600" cy="1280160"/>
          </a:xfrm>
          <a:prstGeom prst="rect">
            <a:avLst/>
          </a:prstGeom>
          <a:noFill/>
          <a:ln/>
        </p:spPr>
        <p:txBody>
          <a:bodyPr wrap="square" lIns="0" tIns="0" rIns="0" bIns="0" rtlCol="0" anchor="ctr"/>
          <a:lstStyle/>
          <a:p>
            <a:pPr indent="0" marL="0">
              <a:lnSpc>
                <a:spcPct val="105000"/>
              </a:lnSpc>
              <a:buNone/>
            </a:pPr>
            <a:r>
              <a:rPr lang="en-US" sz="2200" b="1" dirty="0">
                <a:solidFill>
                  <a:srgbClr val="FFFFFF"/>
                </a:solidFill>
                <a:latin typeface="Cambria" pitchFamily="34" charset="0"/>
                <a:ea typeface="Cambria" pitchFamily="34" charset="-122"/>
                <a:cs typeface="Cambria" pitchFamily="34" charset="-120"/>
              </a:rPr>
              <a:t>The HITL</a:t>
            </a:r>
            <a:endParaRPr lang="en-US" sz="2200" dirty="0"/>
          </a:p>
          <a:p>
            <a:pPr indent="0" marL="0">
              <a:lnSpc>
                <a:spcPct val="105000"/>
              </a:lnSpc>
              <a:buNone/>
            </a:pPr>
            <a:r>
              <a:rPr lang="en-US" sz="2200" b="1" dirty="0">
                <a:solidFill>
                  <a:srgbClr val="FFFFFF"/>
                </a:solidFill>
                <a:latin typeface="Cambria" pitchFamily="34" charset="0"/>
                <a:ea typeface="Cambria" pitchFamily="34" charset="-122"/>
                <a:cs typeface="Cambria" pitchFamily="34" charset="-120"/>
              </a:rPr>
              <a:t>escalation</a:t>
            </a:r>
            <a:endParaRPr lang="en-US" sz="2200" dirty="0"/>
          </a:p>
          <a:p>
            <a:pPr indent="0" marL="0">
              <a:lnSpc>
                <a:spcPct val="105000"/>
              </a:lnSpc>
              <a:buNone/>
            </a:pPr>
            <a:r>
              <a:rPr lang="en-US" sz="2200" b="1" dirty="0">
                <a:solidFill>
                  <a:srgbClr val="FFFFFF"/>
                </a:solidFill>
                <a:latin typeface="Cambria" pitchFamily="34" charset="0"/>
                <a:ea typeface="Cambria" pitchFamily="34" charset="-122"/>
                <a:cs typeface="Cambria" pitchFamily="34" charset="-120"/>
              </a:rPr>
              <a:t>pattern</a:t>
            </a:r>
            <a:endParaRPr lang="en-US" sz="2200" dirty="0"/>
          </a:p>
        </p:txBody>
      </p:sp>
      <p:sp>
        <p:nvSpPr>
          <p:cNvPr id="5" name="Shape 3"/>
          <p:cNvSpPr/>
          <p:nvPr/>
        </p:nvSpPr>
        <p:spPr>
          <a:xfrm>
            <a:off x="731520" y="2514600"/>
            <a:ext cx="2057400" cy="0"/>
          </a:xfrm>
          <a:prstGeom prst="line">
            <a:avLst/>
          </a:prstGeom>
          <a:noFill/>
          <a:ln w="25400">
            <a:solidFill>
              <a:srgbClr val="02C39A"/>
            </a:solidFill>
            <a:prstDash val="solid"/>
          </a:ln>
        </p:spPr>
      </p:sp>
      <p:sp>
        <p:nvSpPr>
          <p:cNvPr id="6" name="Text 4"/>
          <p:cNvSpPr txBox="1"/>
          <p:nvPr/>
        </p:nvSpPr>
        <p:spPr>
          <a:xfrm>
            <a:off x="731520" y="2697480"/>
            <a:ext cx="2514600" cy="822960"/>
          </a:xfrm>
          <a:prstGeom prst="rect">
            <a:avLst/>
          </a:prstGeom>
          <a:noFill/>
          <a:ln/>
        </p:spPr>
        <p:txBody>
          <a:bodyPr wrap="square" lIns="0" tIns="0" rIns="0" bIns="0" rtlCol="0" anchor="ctr"/>
          <a:lstStyle/>
          <a:p>
            <a:pPr indent="0" marL="0">
              <a:buNone/>
            </a:pPr>
            <a:r>
              <a:rPr lang="en-US" sz="1350" b="1" dirty="0">
                <a:solidFill>
                  <a:srgbClr val="E3F3F1"/>
                </a:solidFill>
                <a:latin typeface="Calibri" pitchFamily="34" charset="0"/>
                <a:ea typeface="Calibri" pitchFamily="34" charset="-122"/>
                <a:cs typeface="Calibri" pitchFamily="34" charset="-120"/>
              </a:rPr>
              <a:t>Mishra, Niroula, Yadav,</a:t>
            </a:r>
            <a:endParaRPr lang="en-US" sz="1350" dirty="0"/>
          </a:p>
          <a:p>
            <a:pPr indent="0" marL="0">
              <a:buNone/>
            </a:pPr>
            <a:r>
              <a:rPr lang="en-US" sz="1350" b="1" dirty="0">
                <a:solidFill>
                  <a:srgbClr val="E3F3F1"/>
                </a:solidFill>
                <a:latin typeface="Calibri" pitchFamily="34" charset="0"/>
                <a:ea typeface="Calibri" pitchFamily="34" charset="-122"/>
                <a:cs typeface="Calibri" pitchFamily="34" charset="-120"/>
              </a:rPr>
              <a:t>Thakur, Gyawali, Gaire</a:t>
            </a:r>
            <a:endParaRPr lang="en-US" sz="1350" dirty="0"/>
          </a:p>
        </p:txBody>
      </p:sp>
      <p:sp>
        <p:nvSpPr>
          <p:cNvPr id="7" name="Text 5"/>
          <p:cNvSpPr txBox="1"/>
          <p:nvPr/>
        </p:nvSpPr>
        <p:spPr>
          <a:xfrm>
            <a:off x="731520" y="3291840"/>
            <a:ext cx="2514600" cy="1005840"/>
          </a:xfrm>
          <a:prstGeom prst="rect">
            <a:avLst/>
          </a:prstGeom>
          <a:noFill/>
          <a:ln/>
        </p:spPr>
        <p:txBody>
          <a:bodyPr wrap="square" lIns="0" tIns="0" rIns="0" bIns="0" rtlCol="0" anchor="ctr"/>
          <a:lstStyle/>
          <a:p>
            <a:pPr indent="0" marL="0">
              <a:buNone/>
            </a:pPr>
            <a:r>
              <a:rPr lang="en-US" sz="1150" i="1" dirty="0">
                <a:solidFill>
                  <a:srgbClr val="AEDAD6"/>
                </a:solidFill>
                <a:latin typeface="Calibri" pitchFamily="34" charset="0"/>
                <a:ea typeface="Calibri" pitchFamily="34" charset="-122"/>
                <a:cs typeface="Calibri" pitchFamily="34" charset="-120"/>
              </a:rPr>
              <a:t>SoK: Agentic Retrieval-Augmented Generation (RAG): Taxonomy, Architectures, Evaluation, and Research Directions</a:t>
            </a:r>
            <a:endParaRPr lang="en-US" sz="1150" dirty="0"/>
          </a:p>
        </p:txBody>
      </p:sp>
      <p:sp>
        <p:nvSpPr>
          <p:cNvPr id="8" name="Text 6"/>
          <p:cNvSpPr txBox="1"/>
          <p:nvPr/>
        </p:nvSpPr>
        <p:spPr>
          <a:xfrm>
            <a:off x="731520" y="5577840"/>
            <a:ext cx="2514600" cy="502920"/>
          </a:xfrm>
          <a:prstGeom prst="rect">
            <a:avLst/>
          </a:prstGeom>
          <a:noFill/>
          <a:ln/>
        </p:spPr>
        <p:txBody>
          <a:bodyPr wrap="square" lIns="0" tIns="0" rIns="0" bIns="0" rtlCol="0" anchor="ctr"/>
          <a:lstStyle/>
          <a:p>
            <a:pPr indent="0" marL="0">
              <a:buNone/>
            </a:pPr>
            <a:r>
              <a:rPr lang="en-US" sz="950" dirty="0">
                <a:solidFill>
                  <a:srgbClr val="8FC4C0"/>
                </a:solidFill>
                <a:latin typeface="Calibri" pitchFamily="34" charset="0"/>
                <a:ea typeface="Calibri" pitchFamily="34" charset="-122"/>
                <a:cs typeface="Calibri" pitchFamily="34" charset="-120"/>
              </a:rPr>
              <a:t>arXiv:2603.07379, 2026</a:t>
            </a:r>
            <a:endParaRPr lang="en-US" sz="950" dirty="0"/>
          </a:p>
        </p:txBody>
      </p:sp>
      <p:sp>
        <p:nvSpPr>
          <p:cNvPr id="9" name="Text 7"/>
          <p:cNvSpPr txBox="1"/>
          <p:nvPr/>
        </p:nvSpPr>
        <p:spPr>
          <a:xfrm>
            <a:off x="3794760" y="502920"/>
            <a:ext cx="7863840" cy="457200"/>
          </a:xfrm>
          <a:prstGeom prst="rect">
            <a:avLst/>
          </a:prstGeom>
          <a:noFill/>
          <a:ln/>
        </p:spPr>
        <p:txBody>
          <a:bodyPr wrap="square" lIns="0" tIns="0" rIns="0" bIns="0" rtlCol="0" anchor="ctr"/>
          <a:lstStyle/>
          <a:p>
            <a:pPr indent="0" marL="0">
              <a:lnSpc>
                <a:spcPct val="105000"/>
              </a:lnSpc>
              <a:buNone/>
            </a:pPr>
            <a:r>
              <a:rPr lang="en-US" sz="2100" b="1" dirty="0">
                <a:solidFill>
                  <a:srgbClr val="0D2B32"/>
                </a:solidFill>
                <a:latin typeface="Cambria" pitchFamily="34" charset="0"/>
                <a:ea typeface="Cambria" pitchFamily="34" charset="-122"/>
                <a:cs typeface="Cambria" pitchFamily="34" charset="-120"/>
              </a:rPr>
              <a:t>SoK: Agentic RAG</a:t>
            </a:r>
            <a:endParaRPr lang="en-US" sz="2100" dirty="0"/>
          </a:p>
        </p:txBody>
      </p:sp>
      <p:sp>
        <p:nvSpPr>
          <p:cNvPr id="10" name="Text 8"/>
          <p:cNvSpPr txBox="1"/>
          <p:nvPr/>
        </p:nvSpPr>
        <p:spPr>
          <a:xfrm>
            <a:off x="3794760" y="1069848"/>
            <a:ext cx="7863840" cy="1051560"/>
          </a:xfrm>
          <a:prstGeom prst="rect">
            <a:avLst/>
          </a:prstGeom>
          <a:noFill/>
          <a:ln/>
        </p:spPr>
        <p:txBody>
          <a:bodyPr wrap="square" lIns="0" tIns="0" rIns="0" bIns="0" rtlCol="0" anchor="ctr"/>
          <a:lstStyle/>
          <a:p>
            <a:pPr indent="0" marL="0">
              <a:lnSpc>
                <a:spcPct val="115000"/>
              </a:lnSpc>
              <a:buNone/>
            </a:pPr>
            <a:r>
              <a:rPr lang="en-US" sz="1450" dirty="0">
                <a:solidFill>
                  <a:srgbClr val="0D2B32"/>
                </a:solidFill>
                <a:latin typeface="Calibri" pitchFamily="34" charset="0"/>
                <a:ea typeface="Calibri" pitchFamily="34" charset="-122"/>
                <a:cs typeface="Calibri" pitchFamily="34" charset="-120"/>
              </a:rPr>
              <a:t>A survey of agentic RAG architectures that names human-in-the-loop escalation as a callable action inside the agent's action space, triggered by epistemic uncertainty. Its non-escalating configuration is the baseline our System B adopts, and its escalation branch is the design pattern our System A instantiates.</a:t>
            </a:r>
            <a:endParaRPr lang="en-US" sz="1450" dirty="0"/>
          </a:p>
        </p:txBody>
      </p:sp>
      <p:sp>
        <p:nvSpPr>
          <p:cNvPr id="11" name="Shape 9"/>
          <p:cNvSpPr/>
          <p:nvPr/>
        </p:nvSpPr>
        <p:spPr>
          <a:xfrm>
            <a:off x="3794760" y="2167128"/>
            <a:ext cx="7863840" cy="1371600"/>
          </a:xfrm>
          <a:prstGeom prst="roundRect">
            <a:avLst>
              <a:gd name="adj" fmla="val 5333"/>
            </a:avLst>
          </a:prstGeom>
          <a:solidFill>
            <a:srgbClr val="F1F7F7"/>
          </a:solidFill>
          <a:ln/>
        </p:spPr>
      </p:sp>
      <p:sp>
        <p:nvSpPr>
          <p:cNvPr id="12" name="Text 10"/>
          <p:cNvSpPr txBox="1"/>
          <p:nvPr/>
        </p:nvSpPr>
        <p:spPr>
          <a:xfrm>
            <a:off x="3931920" y="2121408"/>
            <a:ext cx="731520" cy="731520"/>
          </a:xfrm>
          <a:prstGeom prst="rect">
            <a:avLst/>
          </a:prstGeom>
          <a:noFill/>
          <a:ln/>
        </p:spPr>
        <p:txBody>
          <a:bodyPr wrap="square" lIns="0" tIns="0" rIns="0" bIns="0" rtlCol="0" anchor="ctr"/>
          <a:lstStyle/>
          <a:p>
            <a:pPr indent="0" marL="0">
              <a:buNone/>
            </a:pPr>
            <a:r>
              <a:rPr lang="en-US" sz="4600" b="1" dirty="0">
                <a:solidFill>
                  <a:srgbClr val="00A896"/>
                </a:solidFill>
                <a:latin typeface="Cambria" pitchFamily="34" charset="0"/>
                <a:ea typeface="Cambria" pitchFamily="34" charset="-122"/>
                <a:cs typeface="Cambria" pitchFamily="34" charset="-120"/>
              </a:rPr>
              <a:t>“</a:t>
            </a:r>
            <a:endParaRPr lang="en-US" sz="4600" dirty="0"/>
          </a:p>
        </p:txBody>
      </p:sp>
      <p:sp>
        <p:nvSpPr>
          <p:cNvPr id="13" name="Text 11"/>
          <p:cNvSpPr txBox="1"/>
          <p:nvPr/>
        </p:nvSpPr>
        <p:spPr>
          <a:xfrm>
            <a:off x="4434840" y="2331720"/>
            <a:ext cx="6949440" cy="1051560"/>
          </a:xfrm>
          <a:prstGeom prst="rect">
            <a:avLst/>
          </a:prstGeom>
          <a:noFill/>
          <a:ln/>
        </p:spPr>
        <p:txBody>
          <a:bodyPr wrap="square" lIns="0" tIns="0" rIns="0" bIns="0" rtlCol="0" anchor="ctr"/>
          <a:lstStyle/>
          <a:p>
            <a:pPr indent="0" marL="0">
              <a:lnSpc>
                <a:spcPct val="120000"/>
              </a:lnSpc>
              <a:buNone/>
            </a:pPr>
            <a:r>
              <a:rPr lang="en-US" sz="1350" i="1" dirty="0">
                <a:solidFill>
                  <a:srgbClr val="1B3C41"/>
                </a:solidFill>
                <a:latin typeface="Calibri" pitchFamily="34" charset="0"/>
                <a:ea typeface="Calibri" pitchFamily="34" charset="-122"/>
                <a:cs typeface="Calibri" pitchFamily="34" charset="-120"/>
              </a:rPr>
              <a:t>This pattern models human oversight as a callable API within the action space. When epistemic uncertainty exceeds a defined threshold, the policy pauses execution to request disambiguation or supervision.</a:t>
            </a:r>
            <a:endParaRPr lang="en-US" sz="1350" dirty="0"/>
          </a:p>
        </p:txBody>
      </p:sp>
      <p:sp>
        <p:nvSpPr>
          <p:cNvPr id="14" name="Text 12"/>
          <p:cNvSpPr txBox="1"/>
          <p:nvPr/>
        </p:nvSpPr>
        <p:spPr>
          <a:xfrm>
            <a:off x="3794760" y="3767328"/>
            <a:ext cx="786384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HOW OUR APPROACH DIFFERS</a:t>
            </a:r>
            <a:endParaRPr lang="en-US" sz="1100" dirty="0"/>
          </a:p>
        </p:txBody>
      </p:sp>
      <p:sp>
        <p:nvSpPr>
          <p:cNvPr id="15" name="Text 13"/>
          <p:cNvSpPr txBox="1"/>
          <p:nvPr/>
        </p:nvSpPr>
        <p:spPr>
          <a:xfrm>
            <a:off x="3794760" y="4059936"/>
            <a:ext cx="7863840" cy="868680"/>
          </a:xfrm>
          <a:prstGeom prst="rect">
            <a:avLst/>
          </a:prstGeom>
          <a:noFill/>
          <a:ln/>
        </p:spPr>
        <p:txBody>
          <a:bodyPr wrap="square" lIns="0" tIns="0" rIns="0" bIns="0" rtlCol="0" anchor="ctr"/>
          <a:lstStyle/>
          <a:p>
            <a:pPr indent="0" marL="0">
              <a:lnSpc>
                <a:spcPct val="115000"/>
              </a:lnSpc>
              <a:buNone/>
            </a:pPr>
            <a:r>
              <a:rPr lang="en-US" sz="1300" dirty="0">
                <a:solidFill>
                  <a:srgbClr val="4C6B70"/>
                </a:solidFill>
                <a:latin typeface="Calibri" pitchFamily="34" charset="0"/>
                <a:ea typeface="Calibri" pitchFamily="34" charset="-122"/>
                <a:cs typeface="Calibri" pitchFamily="34" charset="-120"/>
              </a:rPr>
              <a:t>Mishra et al. document the escalation pattern and leave adaptive escalation as an open direction. We are the empirical test: escalation as the manipulated independent variable against measured trust and learning outcomes.</a:t>
            </a:r>
            <a:endParaRPr lang="en-US" sz="1300" dirty="0"/>
          </a:p>
        </p:txBody>
      </p:sp>
      <p:sp>
        <p:nvSpPr>
          <p:cNvPr id="16" name="Text 14"/>
          <p:cNvSpPr txBox="1"/>
          <p:nvPr/>
        </p:nvSpPr>
        <p:spPr>
          <a:xfrm>
            <a:off x="11475720" y="6446520"/>
            <a:ext cx="548640" cy="320040"/>
          </a:xfrm>
          <a:prstGeom prst="rect">
            <a:avLst/>
          </a:prstGeom>
          <a:noFill/>
          <a:ln/>
        </p:spPr>
        <p:txBody>
          <a:bodyPr wrap="square" lIns="0" tIns="0" rIns="0" bIns="0" rtlCol="0" anchor="ctr"/>
          <a:lstStyle/>
          <a:p>
            <a:pPr algn="r" indent="0" marL="0">
              <a:buNone/>
            </a:pPr>
            <a:r>
              <a:rPr lang="en-US" sz="1100" dirty="0">
                <a:solidFill>
                  <a:srgbClr val="4C6B70"/>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502920"/>
            <a:ext cx="2971800" cy="5715000"/>
          </a:xfrm>
          <a:prstGeom prst="roundRect">
            <a:avLst>
              <a:gd name="adj" fmla="val 3692"/>
            </a:avLst>
          </a:prstGeom>
          <a:solidFill>
            <a:srgbClr val="028090"/>
          </a:solidFill>
          <a:ln/>
        </p:spPr>
      </p:sp>
      <p:sp>
        <p:nvSpPr>
          <p:cNvPr id="3" name="Text 1"/>
          <p:cNvSpPr txBox="1"/>
          <p:nvPr/>
        </p:nvSpPr>
        <p:spPr>
          <a:xfrm>
            <a:off x="731520" y="777240"/>
            <a:ext cx="2514600" cy="365760"/>
          </a:xfrm>
          <a:prstGeom prst="rect">
            <a:avLst/>
          </a:prstGeom>
          <a:noFill/>
          <a:ln/>
        </p:spPr>
        <p:txBody>
          <a:bodyPr wrap="square" lIns="0" tIns="0" rIns="0" bIns="0" rtlCol="0" anchor="ctr"/>
          <a:lstStyle/>
          <a:p>
            <a:pPr indent="0" marL="0">
              <a:buNone/>
            </a:pPr>
            <a:r>
              <a:rPr lang="en-US" sz="1300" b="1" spc="200" kern="0" dirty="0">
                <a:solidFill>
                  <a:srgbClr val="BFE3E0"/>
                </a:solidFill>
                <a:latin typeface="Calibri" pitchFamily="34" charset="0"/>
                <a:ea typeface="Calibri" pitchFamily="34" charset="-122"/>
                <a:cs typeface="Calibri" pitchFamily="34" charset="-120"/>
              </a:rPr>
              <a:t>PAPER 2</a:t>
            </a:r>
            <a:endParaRPr lang="en-US" sz="1300" dirty="0"/>
          </a:p>
        </p:txBody>
      </p:sp>
      <p:sp>
        <p:nvSpPr>
          <p:cNvPr id="4" name="Text 2"/>
          <p:cNvSpPr txBox="1"/>
          <p:nvPr/>
        </p:nvSpPr>
        <p:spPr>
          <a:xfrm>
            <a:off x="731520" y="1143000"/>
            <a:ext cx="2514600" cy="1280160"/>
          </a:xfrm>
          <a:prstGeom prst="rect">
            <a:avLst/>
          </a:prstGeom>
          <a:noFill/>
          <a:ln/>
        </p:spPr>
        <p:txBody>
          <a:bodyPr wrap="square" lIns="0" tIns="0" rIns="0" bIns="0" rtlCol="0" anchor="ctr"/>
          <a:lstStyle/>
          <a:p>
            <a:pPr indent="0" marL="0">
              <a:lnSpc>
                <a:spcPct val="105000"/>
              </a:lnSpc>
              <a:buNone/>
            </a:pPr>
            <a:r>
              <a:rPr lang="en-US" sz="2200" b="1" dirty="0">
                <a:solidFill>
                  <a:srgbClr val="FFFFFF"/>
                </a:solidFill>
                <a:latin typeface="Cambria" pitchFamily="34" charset="0"/>
                <a:ea typeface="Cambria" pitchFamily="34" charset="-122"/>
                <a:cs typeface="Cambria" pitchFamily="34" charset="-120"/>
              </a:rPr>
              <a:t>The</a:t>
            </a:r>
            <a:endParaRPr lang="en-US" sz="2200" dirty="0"/>
          </a:p>
          <a:p>
            <a:pPr indent="0" marL="0">
              <a:lnSpc>
                <a:spcPct val="105000"/>
              </a:lnSpc>
              <a:buNone/>
            </a:pPr>
            <a:r>
              <a:rPr lang="en-US" sz="2200" b="1" dirty="0">
                <a:solidFill>
                  <a:srgbClr val="FFFFFF"/>
                </a:solidFill>
                <a:latin typeface="Cambria" pitchFamily="34" charset="0"/>
                <a:ea typeface="Cambria" pitchFamily="34" charset="-122"/>
                <a:cs typeface="Cambria" pitchFamily="34" charset="-120"/>
              </a:rPr>
              <a:t>escalation</a:t>
            </a:r>
            <a:endParaRPr lang="en-US" sz="2200" dirty="0"/>
          </a:p>
          <a:p>
            <a:pPr indent="0" marL="0">
              <a:lnSpc>
                <a:spcPct val="105000"/>
              </a:lnSpc>
              <a:buNone/>
            </a:pPr>
            <a:r>
              <a:rPr lang="en-US" sz="2200" b="1" dirty="0">
                <a:solidFill>
                  <a:srgbClr val="FFFFFF"/>
                </a:solidFill>
                <a:latin typeface="Cambria" pitchFamily="34" charset="0"/>
                <a:ea typeface="Cambria" pitchFamily="34" charset="-122"/>
                <a:cs typeface="Cambria" pitchFamily="34" charset="-120"/>
              </a:rPr>
              <a:t>policy shape</a:t>
            </a:r>
            <a:endParaRPr lang="en-US" sz="2200" dirty="0"/>
          </a:p>
        </p:txBody>
      </p:sp>
      <p:sp>
        <p:nvSpPr>
          <p:cNvPr id="5" name="Shape 3"/>
          <p:cNvSpPr/>
          <p:nvPr/>
        </p:nvSpPr>
        <p:spPr>
          <a:xfrm>
            <a:off x="731520" y="2514600"/>
            <a:ext cx="2057400" cy="0"/>
          </a:xfrm>
          <a:prstGeom prst="line">
            <a:avLst/>
          </a:prstGeom>
          <a:noFill/>
          <a:ln w="25400">
            <a:solidFill>
              <a:srgbClr val="02C39A"/>
            </a:solidFill>
            <a:prstDash val="solid"/>
          </a:ln>
        </p:spPr>
      </p:sp>
      <p:sp>
        <p:nvSpPr>
          <p:cNvPr id="6" name="Text 4"/>
          <p:cNvSpPr txBox="1"/>
          <p:nvPr/>
        </p:nvSpPr>
        <p:spPr>
          <a:xfrm>
            <a:off x="731520" y="2697480"/>
            <a:ext cx="2514600" cy="822960"/>
          </a:xfrm>
          <a:prstGeom prst="rect">
            <a:avLst/>
          </a:prstGeom>
          <a:noFill/>
          <a:ln/>
        </p:spPr>
        <p:txBody>
          <a:bodyPr wrap="square" lIns="0" tIns="0" rIns="0" bIns="0" rtlCol="0" anchor="ctr"/>
          <a:lstStyle/>
          <a:p>
            <a:pPr indent="0" marL="0">
              <a:buNone/>
            </a:pPr>
            <a:r>
              <a:rPr lang="en-US" sz="1350" b="1" dirty="0">
                <a:solidFill>
                  <a:srgbClr val="E3F3F1"/>
                </a:solidFill>
                <a:latin typeface="Calibri" pitchFamily="34" charset="0"/>
                <a:ea typeface="Calibri" pitchFamily="34" charset="-122"/>
                <a:cs typeface="Calibri" pitchFamily="34" charset="-120"/>
              </a:rPr>
              <a:t>Sánchez-Adame</a:t>
            </a:r>
            <a:endParaRPr lang="en-US" sz="1350" dirty="0"/>
          </a:p>
          <a:p>
            <a:pPr indent="0" marL="0">
              <a:buNone/>
            </a:pPr>
            <a:r>
              <a:rPr lang="en-US" sz="1350" b="1" dirty="0">
                <a:solidFill>
                  <a:srgbClr val="E3F3F1"/>
                </a:solidFill>
                <a:latin typeface="Calibri" pitchFamily="34" charset="0"/>
                <a:ea typeface="Calibri" pitchFamily="34" charset="-122"/>
                <a:cs typeface="Calibri" pitchFamily="34" charset="-120"/>
              </a:rPr>
              <a:t>&amp; Mendoza</a:t>
            </a:r>
            <a:endParaRPr lang="en-US" sz="1350" dirty="0"/>
          </a:p>
        </p:txBody>
      </p:sp>
      <p:sp>
        <p:nvSpPr>
          <p:cNvPr id="7" name="Text 5"/>
          <p:cNvSpPr txBox="1"/>
          <p:nvPr/>
        </p:nvSpPr>
        <p:spPr>
          <a:xfrm>
            <a:off x="731520" y="3291840"/>
            <a:ext cx="2514600" cy="1005840"/>
          </a:xfrm>
          <a:prstGeom prst="rect">
            <a:avLst/>
          </a:prstGeom>
          <a:noFill/>
          <a:ln/>
        </p:spPr>
        <p:txBody>
          <a:bodyPr wrap="square" lIns="0" tIns="0" rIns="0" bIns="0" rtlCol="0" anchor="ctr"/>
          <a:lstStyle/>
          <a:p>
            <a:pPr indent="0" marL="0">
              <a:buNone/>
            </a:pPr>
            <a:r>
              <a:rPr lang="en-US" sz="1150" i="1" dirty="0">
                <a:solidFill>
                  <a:srgbClr val="AEDAD6"/>
                </a:solidFill>
                <a:latin typeface="Calibri" pitchFamily="34" charset="0"/>
                <a:ea typeface="Calibri" pitchFamily="34" charset="-122"/>
                <a:cs typeface="Calibri" pitchFamily="34" charset="-120"/>
              </a:rPr>
              <a:t>MiPP: Minimal Proactivity Policies for Timely, Low-Intrusion Proactivity — HCII 2026, pp. 363–382</a:t>
            </a:r>
            <a:endParaRPr lang="en-US" sz="1150" dirty="0"/>
          </a:p>
        </p:txBody>
      </p:sp>
      <p:sp>
        <p:nvSpPr>
          <p:cNvPr id="8" name="Text 6"/>
          <p:cNvSpPr txBox="1"/>
          <p:nvPr/>
        </p:nvSpPr>
        <p:spPr>
          <a:xfrm>
            <a:off x="731520" y="5577840"/>
            <a:ext cx="2514600" cy="502920"/>
          </a:xfrm>
          <a:prstGeom prst="rect">
            <a:avLst/>
          </a:prstGeom>
          <a:noFill/>
          <a:ln/>
        </p:spPr>
        <p:txBody>
          <a:bodyPr wrap="square" lIns="0" tIns="0" rIns="0" bIns="0" rtlCol="0" anchor="ctr"/>
          <a:lstStyle/>
          <a:p>
            <a:pPr indent="0" marL="0">
              <a:buNone/>
            </a:pPr>
            <a:r>
              <a:rPr lang="en-US" sz="950" dirty="0">
                <a:solidFill>
                  <a:srgbClr val="8FC4C0"/>
                </a:solidFill>
                <a:latin typeface="Calibri" pitchFamily="34" charset="0"/>
                <a:ea typeface="Calibri" pitchFamily="34" charset="-122"/>
                <a:cs typeface="Calibri" pitchFamily="34" charset="-120"/>
              </a:rPr>
              <a:t>Springer, Cham, 2026</a:t>
            </a:r>
            <a:endParaRPr lang="en-US" sz="950" dirty="0"/>
          </a:p>
        </p:txBody>
      </p:sp>
      <p:sp>
        <p:nvSpPr>
          <p:cNvPr id="9" name="Text 7"/>
          <p:cNvSpPr txBox="1"/>
          <p:nvPr/>
        </p:nvSpPr>
        <p:spPr>
          <a:xfrm>
            <a:off x="3794760" y="502920"/>
            <a:ext cx="7863840" cy="457200"/>
          </a:xfrm>
          <a:prstGeom prst="rect">
            <a:avLst/>
          </a:prstGeom>
          <a:noFill/>
          <a:ln/>
        </p:spPr>
        <p:txBody>
          <a:bodyPr wrap="square" lIns="0" tIns="0" rIns="0" bIns="0" rtlCol="0" anchor="ctr"/>
          <a:lstStyle/>
          <a:p>
            <a:pPr indent="0" marL="0">
              <a:lnSpc>
                <a:spcPct val="105000"/>
              </a:lnSpc>
              <a:buNone/>
            </a:pPr>
            <a:r>
              <a:rPr lang="en-US" sz="2100" b="1" dirty="0">
                <a:solidFill>
                  <a:srgbClr val="0D2B32"/>
                </a:solidFill>
                <a:latin typeface="Cambria" pitchFamily="34" charset="0"/>
                <a:ea typeface="Cambria" pitchFamily="34" charset="-122"/>
                <a:cs typeface="Cambria" pitchFamily="34" charset="-120"/>
              </a:rPr>
              <a:t>MiPP: Minimal Proactivity Policies</a:t>
            </a:r>
            <a:endParaRPr lang="en-US" sz="2100" dirty="0"/>
          </a:p>
        </p:txBody>
      </p:sp>
      <p:sp>
        <p:nvSpPr>
          <p:cNvPr id="10" name="Text 8"/>
          <p:cNvSpPr txBox="1"/>
          <p:nvPr/>
        </p:nvSpPr>
        <p:spPr>
          <a:xfrm>
            <a:off x="3794760" y="1069848"/>
            <a:ext cx="7863840" cy="1051560"/>
          </a:xfrm>
          <a:prstGeom prst="rect">
            <a:avLst/>
          </a:prstGeom>
          <a:noFill/>
          <a:ln/>
        </p:spPr>
        <p:txBody>
          <a:bodyPr wrap="square" lIns="0" tIns="0" rIns="0" bIns="0" rtlCol="0" anchor="ctr"/>
          <a:lstStyle/>
          <a:p>
            <a:pPr indent="0" marL="0">
              <a:lnSpc>
                <a:spcPct val="115000"/>
              </a:lnSpc>
              <a:buNone/>
            </a:pPr>
            <a:r>
              <a:rPr lang="en-US" sz="1450" dirty="0">
                <a:solidFill>
                  <a:srgbClr val="0D2B32"/>
                </a:solidFill>
                <a:latin typeface="Calibri" pitchFamily="34" charset="0"/>
                <a:ea typeface="Calibri" pitchFamily="34" charset="-122"/>
                <a:cs typeface="Calibri" pitchFamily="34" charset="-120"/>
              </a:rPr>
              <a:t>A contract for system-initiated interruptions: initiations must be bounded and reversible, must expose an explicit provenance cue naming the source that justified the pause, and must default to silence rather than speculation when evidence is insufficient. This is the shape of System A's escalation branch.</a:t>
            </a:r>
            <a:endParaRPr lang="en-US" sz="1450" dirty="0"/>
          </a:p>
        </p:txBody>
      </p:sp>
      <p:sp>
        <p:nvSpPr>
          <p:cNvPr id="11" name="Shape 9"/>
          <p:cNvSpPr/>
          <p:nvPr/>
        </p:nvSpPr>
        <p:spPr>
          <a:xfrm>
            <a:off x="3794760" y="2167128"/>
            <a:ext cx="7863840" cy="1371600"/>
          </a:xfrm>
          <a:prstGeom prst="roundRect">
            <a:avLst>
              <a:gd name="adj" fmla="val 5333"/>
            </a:avLst>
          </a:prstGeom>
          <a:solidFill>
            <a:srgbClr val="F1F7F7"/>
          </a:solidFill>
          <a:ln/>
        </p:spPr>
      </p:sp>
      <p:sp>
        <p:nvSpPr>
          <p:cNvPr id="12" name="Text 10"/>
          <p:cNvSpPr txBox="1"/>
          <p:nvPr/>
        </p:nvSpPr>
        <p:spPr>
          <a:xfrm>
            <a:off x="3931920" y="2121408"/>
            <a:ext cx="731520" cy="731520"/>
          </a:xfrm>
          <a:prstGeom prst="rect">
            <a:avLst/>
          </a:prstGeom>
          <a:noFill/>
          <a:ln/>
        </p:spPr>
        <p:txBody>
          <a:bodyPr wrap="square" lIns="0" tIns="0" rIns="0" bIns="0" rtlCol="0" anchor="ctr"/>
          <a:lstStyle/>
          <a:p>
            <a:pPr indent="0" marL="0">
              <a:buNone/>
            </a:pPr>
            <a:r>
              <a:rPr lang="en-US" sz="4600" b="1" dirty="0">
                <a:solidFill>
                  <a:srgbClr val="00A896"/>
                </a:solidFill>
                <a:latin typeface="Cambria" pitchFamily="34" charset="0"/>
                <a:ea typeface="Cambria" pitchFamily="34" charset="-122"/>
                <a:cs typeface="Cambria" pitchFamily="34" charset="-120"/>
              </a:rPr>
              <a:t>“</a:t>
            </a:r>
            <a:endParaRPr lang="en-US" sz="4600" dirty="0"/>
          </a:p>
        </p:txBody>
      </p:sp>
      <p:sp>
        <p:nvSpPr>
          <p:cNvPr id="13" name="Text 11"/>
          <p:cNvSpPr txBox="1"/>
          <p:nvPr/>
        </p:nvSpPr>
        <p:spPr>
          <a:xfrm>
            <a:off x="4434840" y="2331720"/>
            <a:ext cx="6949440" cy="1051560"/>
          </a:xfrm>
          <a:prstGeom prst="rect">
            <a:avLst/>
          </a:prstGeom>
          <a:noFill/>
          <a:ln/>
        </p:spPr>
        <p:txBody>
          <a:bodyPr wrap="square" lIns="0" tIns="0" rIns="0" bIns="0" rtlCol="0" anchor="ctr"/>
          <a:lstStyle/>
          <a:p>
            <a:pPr indent="0" marL="0">
              <a:lnSpc>
                <a:spcPct val="120000"/>
              </a:lnSpc>
              <a:buNone/>
            </a:pPr>
            <a:r>
              <a:rPr lang="en-US" sz="1350" i="1" dirty="0">
                <a:solidFill>
                  <a:srgbClr val="1B3C41"/>
                </a:solidFill>
                <a:latin typeface="Calibri" pitchFamily="34" charset="0"/>
                <a:ea typeface="Calibri" pitchFamily="34" charset="-122"/>
                <a:cs typeface="Calibri" pitchFamily="34" charset="-120"/>
              </a:rPr>
              <a:t>Every initiation must expose an explicit provenance cue indicating the observable source(s) that justified the initiation … enough local information for the user to judge whether the initiation is legitimate in context.</a:t>
            </a:r>
            <a:endParaRPr lang="en-US" sz="1350" dirty="0"/>
          </a:p>
        </p:txBody>
      </p:sp>
      <p:sp>
        <p:nvSpPr>
          <p:cNvPr id="14" name="Text 12"/>
          <p:cNvSpPr txBox="1"/>
          <p:nvPr/>
        </p:nvSpPr>
        <p:spPr>
          <a:xfrm>
            <a:off x="3794760" y="3767328"/>
            <a:ext cx="786384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HOW OUR APPROACH DIFFERS</a:t>
            </a:r>
            <a:endParaRPr lang="en-US" sz="1100" dirty="0"/>
          </a:p>
        </p:txBody>
      </p:sp>
      <p:sp>
        <p:nvSpPr>
          <p:cNvPr id="15" name="Text 13"/>
          <p:cNvSpPr txBox="1"/>
          <p:nvPr/>
        </p:nvSpPr>
        <p:spPr>
          <a:xfrm>
            <a:off x="3794760" y="4059936"/>
            <a:ext cx="7863840" cy="868680"/>
          </a:xfrm>
          <a:prstGeom prst="rect">
            <a:avLst/>
          </a:prstGeom>
          <a:noFill/>
          <a:ln/>
        </p:spPr>
        <p:txBody>
          <a:bodyPr wrap="square" lIns="0" tIns="0" rIns="0" bIns="0" rtlCol="0" anchor="ctr"/>
          <a:lstStyle/>
          <a:p>
            <a:pPr indent="0" marL="0">
              <a:lnSpc>
                <a:spcPct val="115000"/>
              </a:lnSpc>
              <a:buNone/>
            </a:pPr>
            <a:r>
              <a:rPr lang="en-US" sz="1300" dirty="0">
                <a:solidFill>
                  <a:srgbClr val="4C6B70"/>
                </a:solidFill>
                <a:latin typeface="Calibri" pitchFamily="34" charset="0"/>
                <a:ea typeface="Calibri" pitchFamily="34" charset="-122"/>
                <a:cs typeface="Calibri" pitchFamily="34" charset="-120"/>
              </a:rPr>
              <a:t>MiPP specifies how a system should interrupt in general. We adapt — not fully implement — its contract as one concrete escalation policy and test it as an independent variable, not as a design contribution on its own.</a:t>
            </a:r>
            <a:endParaRPr lang="en-US" sz="1300" dirty="0"/>
          </a:p>
        </p:txBody>
      </p:sp>
      <p:sp>
        <p:nvSpPr>
          <p:cNvPr id="16" name="Text 14"/>
          <p:cNvSpPr txBox="1"/>
          <p:nvPr/>
        </p:nvSpPr>
        <p:spPr>
          <a:xfrm>
            <a:off x="11475720" y="6446520"/>
            <a:ext cx="548640" cy="320040"/>
          </a:xfrm>
          <a:prstGeom prst="rect">
            <a:avLst/>
          </a:prstGeom>
          <a:noFill/>
          <a:ln/>
        </p:spPr>
        <p:txBody>
          <a:bodyPr wrap="square" lIns="0" tIns="0" rIns="0" bIns="0" rtlCol="0" anchor="ctr"/>
          <a:lstStyle/>
          <a:p>
            <a:pPr algn="r" indent="0" marL="0">
              <a:buNone/>
            </a:pPr>
            <a:r>
              <a:rPr lang="en-US" sz="1100" dirty="0">
                <a:solidFill>
                  <a:srgbClr val="4C6B70"/>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502920"/>
            <a:ext cx="2971800" cy="5715000"/>
          </a:xfrm>
          <a:prstGeom prst="roundRect">
            <a:avLst>
              <a:gd name="adj" fmla="val 3692"/>
            </a:avLst>
          </a:prstGeom>
          <a:solidFill>
            <a:srgbClr val="028090"/>
          </a:solidFill>
          <a:ln/>
        </p:spPr>
      </p:sp>
      <p:sp>
        <p:nvSpPr>
          <p:cNvPr id="3" name="Text 1"/>
          <p:cNvSpPr txBox="1"/>
          <p:nvPr/>
        </p:nvSpPr>
        <p:spPr>
          <a:xfrm>
            <a:off x="731520" y="777240"/>
            <a:ext cx="2514600" cy="365760"/>
          </a:xfrm>
          <a:prstGeom prst="rect">
            <a:avLst/>
          </a:prstGeom>
          <a:noFill/>
          <a:ln/>
        </p:spPr>
        <p:txBody>
          <a:bodyPr wrap="square" lIns="0" tIns="0" rIns="0" bIns="0" rtlCol="0" anchor="ctr"/>
          <a:lstStyle/>
          <a:p>
            <a:pPr indent="0" marL="0">
              <a:buNone/>
            </a:pPr>
            <a:r>
              <a:rPr lang="en-US" sz="1300" b="1" spc="200" kern="0" dirty="0">
                <a:solidFill>
                  <a:srgbClr val="BFE3E0"/>
                </a:solidFill>
                <a:latin typeface="Calibri" pitchFamily="34" charset="0"/>
                <a:ea typeface="Calibri" pitchFamily="34" charset="-122"/>
                <a:cs typeface="Calibri" pitchFamily="34" charset="-120"/>
              </a:rPr>
              <a:t>PAPER 3</a:t>
            </a:r>
            <a:endParaRPr lang="en-US" sz="1300" dirty="0"/>
          </a:p>
        </p:txBody>
      </p:sp>
      <p:sp>
        <p:nvSpPr>
          <p:cNvPr id="4" name="Text 2"/>
          <p:cNvSpPr txBox="1"/>
          <p:nvPr/>
        </p:nvSpPr>
        <p:spPr>
          <a:xfrm>
            <a:off x="731520" y="1143000"/>
            <a:ext cx="2514600" cy="1280160"/>
          </a:xfrm>
          <a:prstGeom prst="rect">
            <a:avLst/>
          </a:prstGeom>
          <a:noFill/>
          <a:ln/>
        </p:spPr>
        <p:txBody>
          <a:bodyPr wrap="square" lIns="0" tIns="0" rIns="0" bIns="0" rtlCol="0" anchor="ctr"/>
          <a:lstStyle/>
          <a:p>
            <a:pPr indent="0" marL="0">
              <a:lnSpc>
                <a:spcPct val="105000"/>
              </a:lnSpc>
              <a:buNone/>
            </a:pPr>
            <a:r>
              <a:rPr lang="en-US" sz="2200" b="1" dirty="0">
                <a:solidFill>
                  <a:srgbClr val="FFFFFF"/>
                </a:solidFill>
                <a:latin typeface="Cambria" pitchFamily="34" charset="0"/>
                <a:ea typeface="Cambria" pitchFamily="34" charset="-122"/>
                <a:cs typeface="Cambria" pitchFamily="34" charset="-120"/>
              </a:rPr>
              <a:t>Defining and</a:t>
            </a:r>
            <a:endParaRPr lang="en-US" sz="2200" dirty="0"/>
          </a:p>
          <a:p>
            <a:pPr indent="0" marL="0">
              <a:lnSpc>
                <a:spcPct val="105000"/>
              </a:lnSpc>
              <a:buNone/>
            </a:pPr>
            <a:r>
              <a:rPr lang="en-US" sz="2200" b="1" dirty="0">
                <a:solidFill>
                  <a:srgbClr val="FFFFFF"/>
                </a:solidFill>
                <a:latin typeface="Cambria" pitchFamily="34" charset="0"/>
                <a:ea typeface="Cambria" pitchFamily="34" charset="-122"/>
                <a:cs typeface="Cambria" pitchFamily="34" charset="-120"/>
              </a:rPr>
              <a:t>measuring</a:t>
            </a:r>
            <a:endParaRPr lang="en-US" sz="2200" dirty="0"/>
          </a:p>
          <a:p>
            <a:pPr indent="0" marL="0">
              <a:lnSpc>
                <a:spcPct val="105000"/>
              </a:lnSpc>
              <a:buNone/>
            </a:pPr>
            <a:r>
              <a:rPr lang="en-US" sz="2200" b="1" dirty="0">
                <a:solidFill>
                  <a:srgbClr val="FFFFFF"/>
                </a:solidFill>
                <a:latin typeface="Cambria" pitchFamily="34" charset="0"/>
                <a:ea typeface="Cambria" pitchFamily="34" charset="-122"/>
                <a:cs typeface="Cambria" pitchFamily="34" charset="-120"/>
              </a:rPr>
              <a:t>trust calibration</a:t>
            </a:r>
            <a:endParaRPr lang="en-US" sz="2200" dirty="0"/>
          </a:p>
        </p:txBody>
      </p:sp>
      <p:sp>
        <p:nvSpPr>
          <p:cNvPr id="5" name="Shape 3"/>
          <p:cNvSpPr/>
          <p:nvPr/>
        </p:nvSpPr>
        <p:spPr>
          <a:xfrm>
            <a:off x="731520" y="2514600"/>
            <a:ext cx="2057400" cy="0"/>
          </a:xfrm>
          <a:prstGeom prst="line">
            <a:avLst/>
          </a:prstGeom>
          <a:noFill/>
          <a:ln w="25400">
            <a:solidFill>
              <a:srgbClr val="02C39A"/>
            </a:solidFill>
            <a:prstDash val="solid"/>
          </a:ln>
        </p:spPr>
      </p:sp>
      <p:sp>
        <p:nvSpPr>
          <p:cNvPr id="6" name="Text 4"/>
          <p:cNvSpPr txBox="1"/>
          <p:nvPr/>
        </p:nvSpPr>
        <p:spPr>
          <a:xfrm>
            <a:off x="731520" y="2697480"/>
            <a:ext cx="2514600" cy="822960"/>
          </a:xfrm>
          <a:prstGeom prst="rect">
            <a:avLst/>
          </a:prstGeom>
          <a:noFill/>
          <a:ln/>
        </p:spPr>
        <p:txBody>
          <a:bodyPr wrap="square" lIns="0" tIns="0" rIns="0" bIns="0" rtlCol="0" anchor="ctr"/>
          <a:lstStyle/>
          <a:p>
            <a:pPr indent="0" marL="0">
              <a:buNone/>
            </a:pPr>
            <a:r>
              <a:rPr lang="en-US" sz="1350" b="1" dirty="0">
                <a:solidFill>
                  <a:srgbClr val="E3F3F1"/>
                </a:solidFill>
                <a:latin typeface="Calibri" pitchFamily="34" charset="0"/>
                <a:ea typeface="Calibri" pitchFamily="34" charset="-122"/>
                <a:cs typeface="Calibri" pitchFamily="34" charset="-120"/>
              </a:rPr>
              <a:t>Möhle, Zall,</a:t>
            </a:r>
            <a:endParaRPr lang="en-US" sz="1350" dirty="0"/>
          </a:p>
          <a:p>
            <a:pPr indent="0" marL="0">
              <a:buNone/>
            </a:pPr>
            <a:r>
              <a:rPr lang="en-US" sz="1350" b="1" dirty="0">
                <a:solidFill>
                  <a:srgbClr val="E3F3F1"/>
                </a:solidFill>
                <a:latin typeface="Calibri" pitchFamily="34" charset="0"/>
                <a:ea typeface="Calibri" pitchFamily="34" charset="-122"/>
                <a:cs typeface="Calibri" pitchFamily="34" charset="-120"/>
              </a:rPr>
              <a:t>Thorwart-Gumpert, Elbert,</a:t>
            </a:r>
            <a:endParaRPr lang="en-US" sz="1350" dirty="0"/>
          </a:p>
          <a:p>
            <a:pPr indent="0" marL="0">
              <a:buNone/>
            </a:pPr>
            <a:r>
              <a:rPr lang="en-US" sz="1350" b="1" dirty="0">
                <a:solidFill>
                  <a:srgbClr val="E3F3F1"/>
                </a:solidFill>
                <a:latin typeface="Calibri" pitchFamily="34" charset="0"/>
                <a:ea typeface="Calibri" pitchFamily="34" charset="-122"/>
                <a:cs typeface="Calibri" pitchFamily="34" charset="-120"/>
              </a:rPr>
              <a:t>Thiesse, Flath</a:t>
            </a:r>
            <a:endParaRPr lang="en-US" sz="1350" dirty="0"/>
          </a:p>
        </p:txBody>
      </p:sp>
      <p:sp>
        <p:nvSpPr>
          <p:cNvPr id="7" name="Text 5"/>
          <p:cNvSpPr txBox="1"/>
          <p:nvPr/>
        </p:nvSpPr>
        <p:spPr>
          <a:xfrm>
            <a:off x="731520" y="3291840"/>
            <a:ext cx="2514600" cy="1005840"/>
          </a:xfrm>
          <a:prstGeom prst="rect">
            <a:avLst/>
          </a:prstGeom>
          <a:noFill/>
          <a:ln/>
        </p:spPr>
        <p:txBody>
          <a:bodyPr wrap="square" lIns="0" tIns="0" rIns="0" bIns="0" rtlCol="0" anchor="ctr"/>
          <a:lstStyle/>
          <a:p>
            <a:pPr indent="0" marL="0">
              <a:buNone/>
            </a:pPr>
            <a:r>
              <a:rPr lang="en-US" sz="1150" i="1" dirty="0">
                <a:solidFill>
                  <a:srgbClr val="AEDAD6"/>
                </a:solidFill>
                <a:latin typeface="Calibri" pitchFamily="34" charset="0"/>
                <a:ea typeface="Calibri" pitchFamily="34" charset="-122"/>
                <a:cs typeface="Calibri" pitchFamily="34" charset="-120"/>
              </a:rPr>
              <a:t>“Trust Me, Bro!” On the Influence of Agentic Support on Trust Calibration in AI-Assisted Decision Making — HCII 2026, pp. 472–488</a:t>
            </a:r>
            <a:endParaRPr lang="en-US" sz="1150" dirty="0"/>
          </a:p>
        </p:txBody>
      </p:sp>
      <p:sp>
        <p:nvSpPr>
          <p:cNvPr id="8" name="Text 6"/>
          <p:cNvSpPr txBox="1"/>
          <p:nvPr/>
        </p:nvSpPr>
        <p:spPr>
          <a:xfrm>
            <a:off x="731520" y="5577840"/>
            <a:ext cx="2514600" cy="502920"/>
          </a:xfrm>
          <a:prstGeom prst="rect">
            <a:avLst/>
          </a:prstGeom>
          <a:noFill/>
          <a:ln/>
        </p:spPr>
        <p:txBody>
          <a:bodyPr wrap="square" lIns="0" tIns="0" rIns="0" bIns="0" rtlCol="0" anchor="ctr"/>
          <a:lstStyle/>
          <a:p>
            <a:pPr indent="0" marL="0">
              <a:buNone/>
            </a:pPr>
            <a:r>
              <a:rPr lang="en-US" sz="950" dirty="0">
                <a:solidFill>
                  <a:srgbClr val="8FC4C0"/>
                </a:solidFill>
                <a:latin typeface="Calibri" pitchFamily="34" charset="0"/>
                <a:ea typeface="Calibri" pitchFamily="34" charset="-122"/>
                <a:cs typeface="Calibri" pitchFamily="34" charset="-120"/>
              </a:rPr>
              <a:t>Springer, Cham, 2026</a:t>
            </a:r>
            <a:endParaRPr lang="en-US" sz="950" dirty="0"/>
          </a:p>
        </p:txBody>
      </p:sp>
      <p:sp>
        <p:nvSpPr>
          <p:cNvPr id="9" name="Text 7"/>
          <p:cNvSpPr txBox="1"/>
          <p:nvPr/>
        </p:nvSpPr>
        <p:spPr>
          <a:xfrm>
            <a:off x="3794760" y="502920"/>
            <a:ext cx="7863840" cy="457200"/>
          </a:xfrm>
          <a:prstGeom prst="rect">
            <a:avLst/>
          </a:prstGeom>
          <a:noFill/>
          <a:ln/>
        </p:spPr>
        <p:txBody>
          <a:bodyPr wrap="square" lIns="0" tIns="0" rIns="0" bIns="0" rtlCol="0" anchor="ctr"/>
          <a:lstStyle/>
          <a:p>
            <a:pPr indent="0" marL="0">
              <a:lnSpc>
                <a:spcPct val="105000"/>
              </a:lnSpc>
              <a:buNone/>
            </a:pPr>
            <a:r>
              <a:rPr lang="en-US" sz="2100" b="1" dirty="0">
                <a:solidFill>
                  <a:srgbClr val="0D2B32"/>
                </a:solidFill>
                <a:latin typeface="Cambria" pitchFamily="34" charset="0"/>
                <a:ea typeface="Cambria" pitchFamily="34" charset="-122"/>
                <a:cs typeface="Cambria" pitchFamily="34" charset="-120"/>
              </a:rPr>
              <a:t>Trust Calibration in AI-Assisted Decisions</a:t>
            </a:r>
            <a:endParaRPr lang="en-US" sz="2100" dirty="0"/>
          </a:p>
        </p:txBody>
      </p:sp>
      <p:sp>
        <p:nvSpPr>
          <p:cNvPr id="10" name="Text 8"/>
          <p:cNvSpPr txBox="1"/>
          <p:nvPr/>
        </p:nvSpPr>
        <p:spPr>
          <a:xfrm>
            <a:off x="3794760" y="1069848"/>
            <a:ext cx="7863840" cy="1051560"/>
          </a:xfrm>
          <a:prstGeom prst="rect">
            <a:avLst/>
          </a:prstGeom>
          <a:noFill/>
          <a:ln/>
        </p:spPr>
        <p:txBody>
          <a:bodyPr wrap="square" lIns="0" tIns="0" rIns="0" bIns="0" rtlCol="0" anchor="ctr"/>
          <a:lstStyle/>
          <a:p>
            <a:pPr indent="0" marL="0">
              <a:lnSpc>
                <a:spcPct val="115000"/>
              </a:lnSpc>
              <a:buNone/>
            </a:pPr>
            <a:r>
              <a:rPr lang="en-US" sz="1450" dirty="0">
                <a:solidFill>
                  <a:srgbClr val="0D2B32"/>
                </a:solidFill>
                <a:latin typeface="Calibri" pitchFamily="34" charset="0"/>
                <a:ea typeface="Calibri" pitchFamily="34" charset="-122"/>
                <a:cs typeface="Calibri" pitchFamily="34" charset="-120"/>
              </a:rPr>
              <a:t>Defines trust calibration as the alignment between a user's trust and a system's true capability, and finds that stated accuracy shifts trust more strongly when the accompanying reasoning is convincing — fluency is a conditioning cue, not a generic trust booster.</a:t>
            </a:r>
            <a:endParaRPr lang="en-US" sz="1450" dirty="0"/>
          </a:p>
        </p:txBody>
      </p:sp>
      <p:sp>
        <p:nvSpPr>
          <p:cNvPr id="11" name="Shape 9"/>
          <p:cNvSpPr/>
          <p:nvPr/>
        </p:nvSpPr>
        <p:spPr>
          <a:xfrm>
            <a:off x="3794760" y="2167128"/>
            <a:ext cx="7863840" cy="1554480"/>
          </a:xfrm>
          <a:prstGeom prst="roundRect">
            <a:avLst>
              <a:gd name="adj" fmla="val 4706"/>
            </a:avLst>
          </a:prstGeom>
          <a:solidFill>
            <a:srgbClr val="F1F7F7"/>
          </a:solidFill>
          <a:ln/>
        </p:spPr>
      </p:sp>
      <p:sp>
        <p:nvSpPr>
          <p:cNvPr id="12" name="Text 10"/>
          <p:cNvSpPr txBox="1"/>
          <p:nvPr/>
        </p:nvSpPr>
        <p:spPr>
          <a:xfrm>
            <a:off x="3931920" y="2121408"/>
            <a:ext cx="731520" cy="731520"/>
          </a:xfrm>
          <a:prstGeom prst="rect">
            <a:avLst/>
          </a:prstGeom>
          <a:noFill/>
          <a:ln/>
        </p:spPr>
        <p:txBody>
          <a:bodyPr wrap="square" lIns="0" tIns="0" rIns="0" bIns="0" rtlCol="0" anchor="ctr"/>
          <a:lstStyle/>
          <a:p>
            <a:pPr indent="0" marL="0">
              <a:buNone/>
            </a:pPr>
            <a:r>
              <a:rPr lang="en-US" sz="4600" b="1" dirty="0">
                <a:solidFill>
                  <a:srgbClr val="00A896"/>
                </a:solidFill>
                <a:latin typeface="Cambria" pitchFamily="34" charset="0"/>
                <a:ea typeface="Cambria" pitchFamily="34" charset="-122"/>
                <a:cs typeface="Cambria" pitchFamily="34" charset="-120"/>
              </a:rPr>
              <a:t>“</a:t>
            </a:r>
            <a:endParaRPr lang="en-US" sz="4600" dirty="0"/>
          </a:p>
        </p:txBody>
      </p:sp>
      <p:sp>
        <p:nvSpPr>
          <p:cNvPr id="13" name="Text 11"/>
          <p:cNvSpPr txBox="1"/>
          <p:nvPr/>
        </p:nvSpPr>
        <p:spPr>
          <a:xfrm>
            <a:off x="4434840" y="2331720"/>
            <a:ext cx="6949440" cy="1234440"/>
          </a:xfrm>
          <a:prstGeom prst="rect">
            <a:avLst/>
          </a:prstGeom>
          <a:noFill/>
          <a:ln/>
        </p:spPr>
        <p:txBody>
          <a:bodyPr wrap="square" lIns="0" tIns="0" rIns="0" bIns="0" rtlCol="0" anchor="ctr"/>
          <a:lstStyle/>
          <a:p>
            <a:pPr indent="0" marL="0">
              <a:lnSpc>
                <a:spcPct val="120000"/>
              </a:lnSpc>
              <a:buNone/>
            </a:pPr>
            <a:r>
              <a:rPr lang="en-US" sz="1350" i="1" dirty="0">
                <a:solidFill>
                  <a:srgbClr val="1B3C41"/>
                </a:solidFill>
                <a:latin typeface="Calibri" pitchFamily="34" charset="0"/>
                <a:ea typeface="Calibri" pitchFamily="34" charset="-122"/>
                <a:cs typeface="Calibri" pitchFamily="34" charset="-120"/>
              </a:rPr>
              <a:t>Trust calibration denotes the alignment between users' trust and the system's underlying capability for a given task. Results show a positive direct effect of stated accuracy on trust and a significant interaction: accuracy shifts trust more strongly when reasoning is convincing.</a:t>
            </a:r>
            <a:endParaRPr lang="en-US" sz="1350" dirty="0"/>
          </a:p>
        </p:txBody>
      </p:sp>
      <p:sp>
        <p:nvSpPr>
          <p:cNvPr id="14" name="Text 12"/>
          <p:cNvSpPr txBox="1"/>
          <p:nvPr/>
        </p:nvSpPr>
        <p:spPr>
          <a:xfrm>
            <a:off x="3794760" y="3950208"/>
            <a:ext cx="786384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HOW OUR APPROACH DIFFERS</a:t>
            </a:r>
            <a:endParaRPr lang="en-US" sz="1100" dirty="0"/>
          </a:p>
        </p:txBody>
      </p:sp>
      <p:sp>
        <p:nvSpPr>
          <p:cNvPr id="15" name="Text 13"/>
          <p:cNvSpPr txBox="1"/>
          <p:nvPr/>
        </p:nvSpPr>
        <p:spPr>
          <a:xfrm>
            <a:off x="3794760" y="4242816"/>
            <a:ext cx="7863840" cy="868680"/>
          </a:xfrm>
          <a:prstGeom prst="rect">
            <a:avLst/>
          </a:prstGeom>
          <a:noFill/>
          <a:ln/>
        </p:spPr>
        <p:txBody>
          <a:bodyPr wrap="square" lIns="0" tIns="0" rIns="0" bIns="0" rtlCol="0" anchor="ctr"/>
          <a:lstStyle/>
          <a:p>
            <a:pPr indent="0" marL="0">
              <a:lnSpc>
                <a:spcPct val="115000"/>
              </a:lnSpc>
              <a:buNone/>
            </a:pPr>
            <a:r>
              <a:rPr lang="en-US" sz="1300" dirty="0">
                <a:solidFill>
                  <a:srgbClr val="4C6B70"/>
                </a:solidFill>
                <a:latin typeface="Calibri" pitchFamily="34" charset="0"/>
                <a:ea typeface="Calibri" pitchFamily="34" charset="-122"/>
                <a:cs typeface="Calibri" pitchFamily="34" charset="-120"/>
              </a:rPr>
              <a:t>Möhle et al. study stated accuracy and reasoning fluency. We hold the system's fluency constant across System A/B and manipulate escalation instead, measuring graded accuracy and revealed choice rather than self-reported confidence.</a:t>
            </a:r>
            <a:endParaRPr lang="en-US" sz="1300" dirty="0"/>
          </a:p>
        </p:txBody>
      </p:sp>
      <p:sp>
        <p:nvSpPr>
          <p:cNvPr id="16" name="Text 14"/>
          <p:cNvSpPr txBox="1"/>
          <p:nvPr/>
        </p:nvSpPr>
        <p:spPr>
          <a:xfrm>
            <a:off x="11475720" y="6446520"/>
            <a:ext cx="548640" cy="320040"/>
          </a:xfrm>
          <a:prstGeom prst="rect">
            <a:avLst/>
          </a:prstGeom>
          <a:noFill/>
          <a:ln/>
        </p:spPr>
        <p:txBody>
          <a:bodyPr wrap="square" lIns="0" tIns="0" rIns="0" bIns="0" rtlCol="0" anchor="ctr"/>
          <a:lstStyle/>
          <a:p>
            <a:pPr algn="r" indent="0" marL="0">
              <a:buNone/>
            </a:pPr>
            <a:r>
              <a:rPr lang="en-US" sz="1100" dirty="0">
                <a:solidFill>
                  <a:srgbClr val="4C6B70"/>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502920"/>
            <a:ext cx="2971800" cy="5715000"/>
          </a:xfrm>
          <a:prstGeom prst="roundRect">
            <a:avLst>
              <a:gd name="adj" fmla="val 3692"/>
            </a:avLst>
          </a:prstGeom>
          <a:solidFill>
            <a:srgbClr val="028090"/>
          </a:solidFill>
          <a:ln/>
        </p:spPr>
      </p:sp>
      <p:sp>
        <p:nvSpPr>
          <p:cNvPr id="3" name="Text 1"/>
          <p:cNvSpPr txBox="1"/>
          <p:nvPr/>
        </p:nvSpPr>
        <p:spPr>
          <a:xfrm>
            <a:off x="731520" y="777240"/>
            <a:ext cx="2514600" cy="365760"/>
          </a:xfrm>
          <a:prstGeom prst="rect">
            <a:avLst/>
          </a:prstGeom>
          <a:noFill/>
          <a:ln/>
        </p:spPr>
        <p:txBody>
          <a:bodyPr wrap="square" lIns="0" tIns="0" rIns="0" bIns="0" rtlCol="0" anchor="ctr"/>
          <a:lstStyle/>
          <a:p>
            <a:pPr indent="0" marL="0">
              <a:buNone/>
            </a:pPr>
            <a:r>
              <a:rPr lang="en-US" sz="1300" b="1" spc="200" kern="0" dirty="0">
                <a:solidFill>
                  <a:srgbClr val="BFE3E0"/>
                </a:solidFill>
                <a:latin typeface="Calibri" pitchFamily="34" charset="0"/>
                <a:ea typeface="Calibri" pitchFamily="34" charset="-122"/>
                <a:cs typeface="Calibri" pitchFamily="34" charset="-120"/>
              </a:rPr>
              <a:t>PAPER 4</a:t>
            </a:r>
            <a:endParaRPr lang="en-US" sz="1300" dirty="0"/>
          </a:p>
        </p:txBody>
      </p:sp>
      <p:sp>
        <p:nvSpPr>
          <p:cNvPr id="4" name="Text 2"/>
          <p:cNvSpPr txBox="1"/>
          <p:nvPr/>
        </p:nvSpPr>
        <p:spPr>
          <a:xfrm>
            <a:off x="731520" y="1143000"/>
            <a:ext cx="2514600" cy="1280160"/>
          </a:xfrm>
          <a:prstGeom prst="rect">
            <a:avLst/>
          </a:prstGeom>
          <a:noFill/>
          <a:ln/>
        </p:spPr>
        <p:txBody>
          <a:bodyPr wrap="square" lIns="0" tIns="0" rIns="0" bIns="0" rtlCol="0" anchor="ctr"/>
          <a:lstStyle/>
          <a:p>
            <a:pPr indent="0" marL="0">
              <a:lnSpc>
                <a:spcPct val="105000"/>
              </a:lnSpc>
              <a:buNone/>
            </a:pPr>
            <a:r>
              <a:rPr lang="en-US" sz="2200" b="1" dirty="0">
                <a:solidFill>
                  <a:srgbClr val="FFFFFF"/>
                </a:solidFill>
                <a:latin typeface="Cambria" pitchFamily="34" charset="0"/>
                <a:ea typeface="Cambria" pitchFamily="34" charset="-122"/>
                <a:cs typeface="Cambria" pitchFamily="34" charset="-120"/>
              </a:rPr>
              <a:t>The grading</a:t>
            </a:r>
            <a:endParaRPr lang="en-US" sz="2200" dirty="0"/>
          </a:p>
          <a:p>
            <a:pPr indent="0" marL="0">
              <a:lnSpc>
                <a:spcPct val="105000"/>
              </a:lnSpc>
              <a:buNone/>
            </a:pPr>
            <a:r>
              <a:rPr lang="en-US" sz="2200" b="1" dirty="0">
                <a:solidFill>
                  <a:srgbClr val="FFFFFF"/>
                </a:solidFill>
                <a:latin typeface="Cambria" pitchFamily="34" charset="0"/>
                <a:ea typeface="Cambria" pitchFamily="34" charset="-122"/>
                <a:cs typeface="Cambria" pitchFamily="34" charset="-120"/>
              </a:rPr>
              <a:t>procedure</a:t>
            </a:r>
            <a:endParaRPr lang="en-US" sz="2200" dirty="0"/>
          </a:p>
        </p:txBody>
      </p:sp>
      <p:sp>
        <p:nvSpPr>
          <p:cNvPr id="5" name="Shape 3"/>
          <p:cNvSpPr/>
          <p:nvPr/>
        </p:nvSpPr>
        <p:spPr>
          <a:xfrm>
            <a:off x="731520" y="2514600"/>
            <a:ext cx="2057400" cy="0"/>
          </a:xfrm>
          <a:prstGeom prst="line">
            <a:avLst/>
          </a:prstGeom>
          <a:noFill/>
          <a:ln w="25400">
            <a:solidFill>
              <a:srgbClr val="02C39A"/>
            </a:solidFill>
            <a:prstDash val="solid"/>
          </a:ln>
        </p:spPr>
      </p:sp>
      <p:sp>
        <p:nvSpPr>
          <p:cNvPr id="6" name="Text 4"/>
          <p:cNvSpPr txBox="1"/>
          <p:nvPr/>
        </p:nvSpPr>
        <p:spPr>
          <a:xfrm>
            <a:off x="731520" y="2697480"/>
            <a:ext cx="2514600" cy="822960"/>
          </a:xfrm>
          <a:prstGeom prst="rect">
            <a:avLst/>
          </a:prstGeom>
          <a:noFill/>
          <a:ln/>
        </p:spPr>
        <p:txBody>
          <a:bodyPr wrap="square" lIns="0" tIns="0" rIns="0" bIns="0" rtlCol="0" anchor="ctr"/>
          <a:lstStyle/>
          <a:p>
            <a:pPr indent="0" marL="0">
              <a:buNone/>
            </a:pPr>
            <a:r>
              <a:rPr lang="en-US" sz="1350" b="1" dirty="0">
                <a:solidFill>
                  <a:srgbClr val="E3F3F1"/>
                </a:solidFill>
                <a:latin typeface="Calibri" pitchFamily="34" charset="0"/>
                <a:ea typeface="Calibri" pitchFamily="34" charset="-122"/>
                <a:cs typeface="Calibri" pitchFamily="34" charset="-120"/>
              </a:rPr>
              <a:t>Chakraborti, Sreedharan,</a:t>
            </a:r>
            <a:endParaRPr lang="en-US" sz="1350" dirty="0"/>
          </a:p>
          <a:p>
            <a:pPr indent="0" marL="0">
              <a:buNone/>
            </a:pPr>
            <a:r>
              <a:rPr lang="en-US" sz="1350" b="1" dirty="0">
                <a:solidFill>
                  <a:srgbClr val="E3F3F1"/>
                </a:solidFill>
                <a:latin typeface="Calibri" pitchFamily="34" charset="0"/>
                <a:ea typeface="Calibri" pitchFamily="34" charset="-122"/>
                <a:cs typeface="Calibri" pitchFamily="34" charset="-120"/>
              </a:rPr>
              <a:t>Grover, Kambhampati</a:t>
            </a:r>
            <a:endParaRPr lang="en-US" sz="1350" dirty="0"/>
          </a:p>
        </p:txBody>
      </p:sp>
      <p:sp>
        <p:nvSpPr>
          <p:cNvPr id="7" name="Text 5"/>
          <p:cNvSpPr txBox="1"/>
          <p:nvPr/>
        </p:nvSpPr>
        <p:spPr>
          <a:xfrm>
            <a:off x="731520" y="3291840"/>
            <a:ext cx="2514600" cy="1005840"/>
          </a:xfrm>
          <a:prstGeom prst="rect">
            <a:avLst/>
          </a:prstGeom>
          <a:noFill/>
          <a:ln/>
        </p:spPr>
        <p:txBody>
          <a:bodyPr wrap="square" lIns="0" tIns="0" rIns="0" bIns="0" rtlCol="0" anchor="ctr"/>
          <a:lstStyle/>
          <a:p>
            <a:pPr indent="0" marL="0">
              <a:buNone/>
            </a:pPr>
            <a:r>
              <a:rPr lang="en-US" sz="1150" i="1" dirty="0">
                <a:solidFill>
                  <a:srgbClr val="AEDAD6"/>
                </a:solidFill>
                <a:latin typeface="Calibri" pitchFamily="34" charset="0"/>
                <a:ea typeface="Calibri" pitchFamily="34" charset="-122"/>
                <a:cs typeface="Calibri" pitchFamily="34" charset="-120"/>
              </a:rPr>
              <a:t>Plan Explanations as Model Reconciliation: An Empirical Study</a:t>
            </a:r>
            <a:endParaRPr lang="en-US" sz="1150" dirty="0"/>
          </a:p>
        </p:txBody>
      </p:sp>
      <p:sp>
        <p:nvSpPr>
          <p:cNvPr id="8" name="Text 6"/>
          <p:cNvSpPr txBox="1"/>
          <p:nvPr/>
        </p:nvSpPr>
        <p:spPr>
          <a:xfrm>
            <a:off x="731520" y="5577840"/>
            <a:ext cx="2514600" cy="502920"/>
          </a:xfrm>
          <a:prstGeom prst="rect">
            <a:avLst/>
          </a:prstGeom>
          <a:noFill/>
          <a:ln/>
        </p:spPr>
        <p:txBody>
          <a:bodyPr wrap="square" lIns="0" tIns="0" rIns="0" bIns="0" rtlCol="0" anchor="ctr"/>
          <a:lstStyle/>
          <a:p>
            <a:pPr indent="0" marL="0">
              <a:buNone/>
            </a:pPr>
            <a:r>
              <a:rPr lang="en-US" sz="950" dirty="0">
                <a:solidFill>
                  <a:srgbClr val="8FC4C0"/>
                </a:solidFill>
                <a:latin typeface="Calibri" pitchFamily="34" charset="0"/>
                <a:ea typeface="Calibri" pitchFamily="34" charset="-122"/>
                <a:cs typeface="Calibri" pitchFamily="34" charset="-120"/>
              </a:rPr>
              <a:t>arXiv:1802.01013, 2018</a:t>
            </a:r>
            <a:endParaRPr lang="en-US" sz="950" dirty="0"/>
          </a:p>
        </p:txBody>
      </p:sp>
      <p:sp>
        <p:nvSpPr>
          <p:cNvPr id="9" name="Text 7"/>
          <p:cNvSpPr txBox="1"/>
          <p:nvPr/>
        </p:nvSpPr>
        <p:spPr>
          <a:xfrm>
            <a:off x="3794760" y="502920"/>
            <a:ext cx="7863840" cy="457200"/>
          </a:xfrm>
          <a:prstGeom prst="rect">
            <a:avLst/>
          </a:prstGeom>
          <a:noFill/>
          <a:ln/>
        </p:spPr>
        <p:txBody>
          <a:bodyPr wrap="square" lIns="0" tIns="0" rIns="0" bIns="0" rtlCol="0" anchor="ctr"/>
          <a:lstStyle/>
          <a:p>
            <a:pPr indent="0" marL="0">
              <a:lnSpc>
                <a:spcPct val="105000"/>
              </a:lnSpc>
              <a:buNone/>
            </a:pPr>
            <a:r>
              <a:rPr lang="en-US" sz="2100" b="1" dirty="0">
                <a:solidFill>
                  <a:srgbClr val="0D2B32"/>
                </a:solidFill>
                <a:latin typeface="Cambria" pitchFamily="34" charset="0"/>
                <a:ea typeface="Cambria" pitchFamily="34" charset="-122"/>
                <a:cs typeface="Cambria" pitchFamily="34" charset="-120"/>
              </a:rPr>
              <a:t>Plan Explanations as Model Reconciliation</a:t>
            </a:r>
            <a:endParaRPr lang="en-US" sz="2100" dirty="0"/>
          </a:p>
        </p:txBody>
      </p:sp>
      <p:sp>
        <p:nvSpPr>
          <p:cNvPr id="10" name="Text 8"/>
          <p:cNvSpPr txBox="1"/>
          <p:nvPr/>
        </p:nvSpPr>
        <p:spPr>
          <a:xfrm>
            <a:off x="3794760" y="1069848"/>
            <a:ext cx="7863840" cy="1051560"/>
          </a:xfrm>
          <a:prstGeom prst="rect">
            <a:avLst/>
          </a:prstGeom>
          <a:noFill/>
          <a:ln/>
        </p:spPr>
        <p:txBody>
          <a:bodyPr wrap="square" lIns="0" tIns="0" rIns="0" bIns="0" rtlCol="0" anchor="ctr"/>
          <a:lstStyle/>
          <a:p>
            <a:pPr indent="0" marL="0">
              <a:lnSpc>
                <a:spcPct val="115000"/>
              </a:lnSpc>
              <a:buNone/>
            </a:pPr>
            <a:r>
              <a:rPr lang="en-US" sz="1450" dirty="0">
                <a:solidFill>
                  <a:srgbClr val="0D2B32"/>
                </a:solidFill>
                <a:latin typeface="Calibri" pitchFamily="34" charset="0"/>
                <a:ea typeface="Calibri" pitchFamily="34" charset="-122"/>
                <a:cs typeface="Calibri" pitchFamily="34" charset="-120"/>
              </a:rPr>
              <a:t>A human-in-the-loop study where participants act as an external commander, evaluate plans produced by a robot, and rate them optimal or suboptimal, with end-of-study trust items. This is the template for Experiment 1's blind, randomized-order grading task.</a:t>
            </a:r>
            <a:endParaRPr lang="en-US" sz="1450" dirty="0"/>
          </a:p>
        </p:txBody>
      </p:sp>
      <p:sp>
        <p:nvSpPr>
          <p:cNvPr id="11" name="Shape 9"/>
          <p:cNvSpPr/>
          <p:nvPr/>
        </p:nvSpPr>
        <p:spPr>
          <a:xfrm>
            <a:off x="3794760" y="2167128"/>
            <a:ext cx="7863840" cy="1234440"/>
          </a:xfrm>
          <a:prstGeom prst="roundRect">
            <a:avLst>
              <a:gd name="adj" fmla="val 5926"/>
            </a:avLst>
          </a:prstGeom>
          <a:solidFill>
            <a:srgbClr val="F1F7F7"/>
          </a:solidFill>
          <a:ln/>
        </p:spPr>
      </p:sp>
      <p:sp>
        <p:nvSpPr>
          <p:cNvPr id="12" name="Text 10"/>
          <p:cNvSpPr txBox="1"/>
          <p:nvPr/>
        </p:nvSpPr>
        <p:spPr>
          <a:xfrm>
            <a:off x="3931920" y="2121408"/>
            <a:ext cx="731520" cy="731520"/>
          </a:xfrm>
          <a:prstGeom prst="rect">
            <a:avLst/>
          </a:prstGeom>
          <a:noFill/>
          <a:ln/>
        </p:spPr>
        <p:txBody>
          <a:bodyPr wrap="square" lIns="0" tIns="0" rIns="0" bIns="0" rtlCol="0" anchor="ctr"/>
          <a:lstStyle/>
          <a:p>
            <a:pPr indent="0" marL="0">
              <a:buNone/>
            </a:pPr>
            <a:r>
              <a:rPr lang="en-US" sz="4600" b="1" dirty="0">
                <a:solidFill>
                  <a:srgbClr val="00A896"/>
                </a:solidFill>
                <a:latin typeface="Cambria" pitchFamily="34" charset="0"/>
                <a:ea typeface="Cambria" pitchFamily="34" charset="-122"/>
                <a:cs typeface="Cambria" pitchFamily="34" charset="-120"/>
              </a:rPr>
              <a:t>“</a:t>
            </a:r>
            <a:endParaRPr lang="en-US" sz="4600" dirty="0"/>
          </a:p>
        </p:txBody>
      </p:sp>
      <p:sp>
        <p:nvSpPr>
          <p:cNvPr id="13" name="Text 11"/>
          <p:cNvSpPr txBox="1"/>
          <p:nvPr/>
        </p:nvSpPr>
        <p:spPr>
          <a:xfrm>
            <a:off x="4434840" y="2331720"/>
            <a:ext cx="6949440" cy="914400"/>
          </a:xfrm>
          <a:prstGeom prst="rect">
            <a:avLst/>
          </a:prstGeom>
          <a:noFill/>
          <a:ln/>
        </p:spPr>
        <p:txBody>
          <a:bodyPr wrap="square" lIns="0" tIns="0" rIns="0" bIns="0" rtlCol="0" anchor="ctr"/>
          <a:lstStyle/>
          <a:p>
            <a:pPr indent="0" marL="0">
              <a:lnSpc>
                <a:spcPct val="120000"/>
              </a:lnSpc>
              <a:buNone/>
            </a:pPr>
            <a:r>
              <a:rPr lang="en-US" sz="1350" i="1" dirty="0">
                <a:solidFill>
                  <a:srgbClr val="1B3C41"/>
                </a:solidFill>
                <a:latin typeface="Calibri" pitchFamily="34" charset="0"/>
                <a:ea typeface="Calibri" pitchFamily="34" charset="-122"/>
                <a:cs typeface="Calibri" pitchFamily="34" charset="-120"/>
              </a:rPr>
              <a:t>Participants assumed the role of the external commander and evaluated plans provided by the internal robot … and rate those plans as optimal or suboptimal based on that explanation.</a:t>
            </a:r>
            <a:endParaRPr lang="en-US" sz="1350" dirty="0"/>
          </a:p>
        </p:txBody>
      </p:sp>
      <p:sp>
        <p:nvSpPr>
          <p:cNvPr id="14" name="Text 12"/>
          <p:cNvSpPr txBox="1"/>
          <p:nvPr/>
        </p:nvSpPr>
        <p:spPr>
          <a:xfrm>
            <a:off x="3794760" y="3630168"/>
            <a:ext cx="786384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HOW OUR APPROACH DIFFERS</a:t>
            </a:r>
            <a:endParaRPr lang="en-US" sz="1100" dirty="0"/>
          </a:p>
        </p:txBody>
      </p:sp>
      <p:sp>
        <p:nvSpPr>
          <p:cNvPr id="15" name="Text 13"/>
          <p:cNvSpPr txBox="1"/>
          <p:nvPr/>
        </p:nvSpPr>
        <p:spPr>
          <a:xfrm>
            <a:off x="3794760" y="3922776"/>
            <a:ext cx="7863840" cy="868680"/>
          </a:xfrm>
          <a:prstGeom prst="rect">
            <a:avLst/>
          </a:prstGeom>
          <a:noFill/>
          <a:ln/>
        </p:spPr>
        <p:txBody>
          <a:bodyPr wrap="square" lIns="0" tIns="0" rIns="0" bIns="0" rtlCol="0" anchor="ctr"/>
          <a:lstStyle/>
          <a:p>
            <a:pPr indent="0" marL="0">
              <a:lnSpc>
                <a:spcPct val="115000"/>
              </a:lnSpc>
              <a:buNone/>
            </a:pPr>
            <a:r>
              <a:rPr lang="en-US" sz="1300" dirty="0">
                <a:solidFill>
                  <a:srgbClr val="4C6B70"/>
                </a:solidFill>
                <a:latin typeface="Calibri" pitchFamily="34" charset="0"/>
                <a:ea typeface="Calibri" pitchFamily="34" charset="-122"/>
                <a:cs typeface="Calibri" pitchFamily="34" charset="-120"/>
              </a:rPr>
              <a:t>Chakraborti et al. grade a single condition's explanations. We extend their end-of-study trust items into a forced choice between System A and System B, with a coded free-text justification.</a:t>
            </a:r>
            <a:endParaRPr lang="en-US" sz="1300" dirty="0"/>
          </a:p>
        </p:txBody>
      </p:sp>
      <p:sp>
        <p:nvSpPr>
          <p:cNvPr id="16" name="Text 14"/>
          <p:cNvSpPr txBox="1"/>
          <p:nvPr/>
        </p:nvSpPr>
        <p:spPr>
          <a:xfrm>
            <a:off x="11475720" y="6446520"/>
            <a:ext cx="548640" cy="320040"/>
          </a:xfrm>
          <a:prstGeom prst="rect">
            <a:avLst/>
          </a:prstGeom>
          <a:noFill/>
          <a:ln/>
        </p:spPr>
        <p:txBody>
          <a:bodyPr wrap="square" lIns="0" tIns="0" rIns="0" bIns="0" rtlCol="0" anchor="ctr"/>
          <a:lstStyle/>
          <a:p>
            <a:pPr algn="r" indent="0" marL="0">
              <a:buNone/>
            </a:pPr>
            <a:r>
              <a:rPr lang="en-US" sz="1100" dirty="0">
                <a:solidFill>
                  <a:srgbClr val="4C6B70"/>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502920"/>
            <a:ext cx="2971800" cy="5715000"/>
          </a:xfrm>
          <a:prstGeom prst="roundRect">
            <a:avLst>
              <a:gd name="adj" fmla="val 3692"/>
            </a:avLst>
          </a:prstGeom>
          <a:solidFill>
            <a:srgbClr val="028090"/>
          </a:solidFill>
          <a:ln/>
        </p:spPr>
      </p:sp>
      <p:sp>
        <p:nvSpPr>
          <p:cNvPr id="3" name="Text 1"/>
          <p:cNvSpPr txBox="1"/>
          <p:nvPr/>
        </p:nvSpPr>
        <p:spPr>
          <a:xfrm>
            <a:off x="731520" y="777240"/>
            <a:ext cx="2514600" cy="365760"/>
          </a:xfrm>
          <a:prstGeom prst="rect">
            <a:avLst/>
          </a:prstGeom>
          <a:noFill/>
          <a:ln/>
        </p:spPr>
        <p:txBody>
          <a:bodyPr wrap="square" lIns="0" tIns="0" rIns="0" bIns="0" rtlCol="0" anchor="ctr"/>
          <a:lstStyle/>
          <a:p>
            <a:pPr indent="0" marL="0">
              <a:buNone/>
            </a:pPr>
            <a:r>
              <a:rPr lang="en-US" sz="1300" b="1" spc="200" kern="0" dirty="0">
                <a:solidFill>
                  <a:srgbClr val="BFE3E0"/>
                </a:solidFill>
                <a:latin typeface="Calibri" pitchFamily="34" charset="0"/>
                <a:ea typeface="Calibri" pitchFamily="34" charset="-122"/>
                <a:cs typeface="Calibri" pitchFamily="34" charset="-120"/>
              </a:rPr>
              <a:t>PAPER 5</a:t>
            </a:r>
            <a:endParaRPr lang="en-US" sz="1300" dirty="0"/>
          </a:p>
        </p:txBody>
      </p:sp>
      <p:sp>
        <p:nvSpPr>
          <p:cNvPr id="4" name="Text 2"/>
          <p:cNvSpPr txBox="1"/>
          <p:nvPr/>
        </p:nvSpPr>
        <p:spPr>
          <a:xfrm>
            <a:off x="731520" y="1143000"/>
            <a:ext cx="2514600" cy="1280160"/>
          </a:xfrm>
          <a:prstGeom prst="rect">
            <a:avLst/>
          </a:prstGeom>
          <a:noFill/>
          <a:ln/>
        </p:spPr>
        <p:txBody>
          <a:bodyPr wrap="square" lIns="0" tIns="0" rIns="0" bIns="0" rtlCol="0" anchor="ctr"/>
          <a:lstStyle/>
          <a:p>
            <a:pPr indent="0" marL="0">
              <a:lnSpc>
                <a:spcPct val="105000"/>
              </a:lnSpc>
              <a:buNone/>
            </a:pPr>
            <a:r>
              <a:rPr lang="en-US" sz="2200" b="1" dirty="0">
                <a:solidFill>
                  <a:srgbClr val="FFFFFF"/>
                </a:solidFill>
                <a:latin typeface="Cambria" pitchFamily="34" charset="0"/>
                <a:ea typeface="Cambria" pitchFamily="34" charset="-122"/>
                <a:cs typeface="Cambria" pitchFamily="34" charset="-120"/>
              </a:rPr>
              <a:t>Impression of</a:t>
            </a:r>
            <a:endParaRPr lang="en-US" sz="2200" dirty="0"/>
          </a:p>
          <a:p>
            <a:pPr indent="0" marL="0">
              <a:lnSpc>
                <a:spcPct val="105000"/>
              </a:lnSpc>
              <a:buNone/>
            </a:pPr>
            <a:r>
              <a:rPr lang="en-US" sz="2200" b="1" dirty="0">
                <a:solidFill>
                  <a:srgbClr val="FFFFFF"/>
                </a:solidFill>
                <a:latin typeface="Cambria" pitchFamily="34" charset="0"/>
                <a:ea typeface="Cambria" pitchFamily="34" charset="-122"/>
                <a:cs typeface="Cambria" pitchFamily="34" charset="-120"/>
              </a:rPr>
              <a:t>learning vs.</a:t>
            </a:r>
            <a:endParaRPr lang="en-US" sz="2200" dirty="0"/>
          </a:p>
          <a:p>
            <a:pPr indent="0" marL="0">
              <a:lnSpc>
                <a:spcPct val="105000"/>
              </a:lnSpc>
              <a:buNone/>
            </a:pPr>
            <a:r>
              <a:rPr lang="en-US" sz="2200" b="1" dirty="0">
                <a:solidFill>
                  <a:srgbClr val="FFFFFF"/>
                </a:solidFill>
                <a:latin typeface="Cambria" pitchFamily="34" charset="0"/>
                <a:ea typeface="Cambria" pitchFamily="34" charset="-122"/>
                <a:cs typeface="Cambria" pitchFamily="34" charset="-120"/>
              </a:rPr>
              <a:t>actual learning</a:t>
            </a:r>
            <a:endParaRPr lang="en-US" sz="2200" dirty="0"/>
          </a:p>
        </p:txBody>
      </p:sp>
      <p:sp>
        <p:nvSpPr>
          <p:cNvPr id="5" name="Shape 3"/>
          <p:cNvSpPr/>
          <p:nvPr/>
        </p:nvSpPr>
        <p:spPr>
          <a:xfrm>
            <a:off x="731520" y="2514600"/>
            <a:ext cx="2057400" cy="0"/>
          </a:xfrm>
          <a:prstGeom prst="line">
            <a:avLst/>
          </a:prstGeom>
          <a:noFill/>
          <a:ln w="25400">
            <a:solidFill>
              <a:srgbClr val="02C39A"/>
            </a:solidFill>
            <a:prstDash val="solid"/>
          </a:ln>
        </p:spPr>
      </p:sp>
      <p:sp>
        <p:nvSpPr>
          <p:cNvPr id="6" name="Text 4"/>
          <p:cNvSpPr txBox="1"/>
          <p:nvPr/>
        </p:nvSpPr>
        <p:spPr>
          <a:xfrm>
            <a:off x="731520" y="2697480"/>
            <a:ext cx="2514600" cy="822960"/>
          </a:xfrm>
          <a:prstGeom prst="rect">
            <a:avLst/>
          </a:prstGeom>
          <a:noFill/>
          <a:ln/>
        </p:spPr>
        <p:txBody>
          <a:bodyPr wrap="square" lIns="0" tIns="0" rIns="0" bIns="0" rtlCol="0" anchor="ctr"/>
          <a:lstStyle/>
          <a:p>
            <a:pPr indent="0" marL="0">
              <a:buNone/>
            </a:pPr>
            <a:r>
              <a:rPr lang="en-US" sz="1350" b="1" dirty="0">
                <a:solidFill>
                  <a:srgbClr val="E3F3F1"/>
                </a:solidFill>
                <a:latin typeface="Calibri" pitchFamily="34" charset="0"/>
                <a:ea typeface="Calibri" pitchFamily="34" charset="-122"/>
                <a:cs typeface="Calibri" pitchFamily="34" charset="-120"/>
              </a:rPr>
              <a:t>Clegg, Karduna, Holen,</a:t>
            </a:r>
            <a:endParaRPr lang="en-US" sz="1350" dirty="0"/>
          </a:p>
          <a:p>
            <a:pPr indent="0" marL="0">
              <a:buNone/>
            </a:pPr>
            <a:r>
              <a:rPr lang="en-US" sz="1350" b="1" dirty="0">
                <a:solidFill>
                  <a:srgbClr val="E3F3F1"/>
                </a:solidFill>
                <a:latin typeface="Calibri" pitchFamily="34" charset="0"/>
                <a:ea typeface="Calibri" pitchFamily="34" charset="-122"/>
                <a:cs typeface="Calibri" pitchFamily="34" charset="-120"/>
              </a:rPr>
              <a:t>Garcia, Rhodes, Ortega</a:t>
            </a:r>
            <a:endParaRPr lang="en-US" sz="1350" dirty="0"/>
          </a:p>
        </p:txBody>
      </p:sp>
      <p:sp>
        <p:nvSpPr>
          <p:cNvPr id="7" name="Text 5"/>
          <p:cNvSpPr txBox="1"/>
          <p:nvPr/>
        </p:nvSpPr>
        <p:spPr>
          <a:xfrm>
            <a:off x="731520" y="3291840"/>
            <a:ext cx="2514600" cy="1005840"/>
          </a:xfrm>
          <a:prstGeom prst="rect">
            <a:avLst/>
          </a:prstGeom>
          <a:noFill/>
          <a:ln/>
        </p:spPr>
        <p:txBody>
          <a:bodyPr wrap="square" lIns="0" tIns="0" rIns="0" bIns="0" rtlCol="0" anchor="ctr"/>
          <a:lstStyle/>
          <a:p>
            <a:pPr indent="0" marL="0">
              <a:buNone/>
            </a:pPr>
            <a:r>
              <a:rPr lang="en-US" sz="1150" i="1" dirty="0">
                <a:solidFill>
                  <a:srgbClr val="AEDAD6"/>
                </a:solidFill>
                <a:latin typeface="Calibri" pitchFamily="34" charset="0"/>
                <a:ea typeface="Calibri" pitchFamily="34" charset="-122"/>
                <a:cs typeface="Calibri" pitchFamily="34" charset="-120"/>
              </a:rPr>
              <a:t>Multimedia and Immersive Training Materials Influence Impressions of Learning but Not Learning Outcomes — I/ITSEC 2022</a:t>
            </a:r>
            <a:endParaRPr lang="en-US" sz="1150" dirty="0"/>
          </a:p>
        </p:txBody>
      </p:sp>
      <p:sp>
        <p:nvSpPr>
          <p:cNvPr id="8" name="Text 6"/>
          <p:cNvSpPr txBox="1"/>
          <p:nvPr/>
        </p:nvSpPr>
        <p:spPr>
          <a:xfrm>
            <a:off x="731520" y="5577840"/>
            <a:ext cx="2514600" cy="502920"/>
          </a:xfrm>
          <a:prstGeom prst="rect">
            <a:avLst/>
          </a:prstGeom>
          <a:noFill/>
          <a:ln/>
        </p:spPr>
        <p:txBody>
          <a:bodyPr wrap="square" lIns="0" tIns="0" rIns="0" bIns="0" rtlCol="0" anchor="ctr"/>
          <a:lstStyle/>
          <a:p>
            <a:pPr indent="0" marL="0">
              <a:buNone/>
            </a:pPr>
            <a:r>
              <a:rPr lang="en-US" sz="950" dirty="0">
                <a:solidFill>
                  <a:srgbClr val="8FC4C0"/>
                </a:solidFill>
                <a:latin typeface="Calibri" pitchFamily="34" charset="0"/>
                <a:ea typeface="Calibri" pitchFamily="34" charset="-122"/>
                <a:cs typeface="Calibri" pitchFamily="34" charset="-120"/>
              </a:rPr>
              <a:t>Orlando, FL, USA, 2022</a:t>
            </a:r>
            <a:endParaRPr lang="en-US" sz="950" dirty="0"/>
          </a:p>
        </p:txBody>
      </p:sp>
      <p:sp>
        <p:nvSpPr>
          <p:cNvPr id="9" name="Text 7"/>
          <p:cNvSpPr txBox="1"/>
          <p:nvPr/>
        </p:nvSpPr>
        <p:spPr>
          <a:xfrm>
            <a:off x="3794760" y="502920"/>
            <a:ext cx="7863840" cy="457200"/>
          </a:xfrm>
          <a:prstGeom prst="rect">
            <a:avLst/>
          </a:prstGeom>
          <a:noFill/>
          <a:ln/>
        </p:spPr>
        <p:txBody>
          <a:bodyPr wrap="square" lIns="0" tIns="0" rIns="0" bIns="0" rtlCol="0" anchor="ctr"/>
          <a:lstStyle/>
          <a:p>
            <a:pPr indent="0" marL="0">
              <a:lnSpc>
                <a:spcPct val="105000"/>
              </a:lnSpc>
              <a:buNone/>
            </a:pPr>
            <a:r>
              <a:rPr lang="en-US" sz="2100" b="1" dirty="0">
                <a:solidFill>
                  <a:srgbClr val="0D2B32"/>
                </a:solidFill>
                <a:latin typeface="Cambria" pitchFamily="34" charset="0"/>
                <a:ea typeface="Cambria" pitchFamily="34" charset="-122"/>
                <a:cs typeface="Cambria" pitchFamily="34" charset="-120"/>
              </a:rPr>
              <a:t>Impressions of Learning, Not Outcomes</a:t>
            </a:r>
            <a:endParaRPr lang="en-US" sz="2100" dirty="0"/>
          </a:p>
        </p:txBody>
      </p:sp>
      <p:sp>
        <p:nvSpPr>
          <p:cNvPr id="10" name="Text 8"/>
          <p:cNvSpPr txBox="1"/>
          <p:nvPr/>
        </p:nvSpPr>
        <p:spPr>
          <a:xfrm>
            <a:off x="3794760" y="1069848"/>
            <a:ext cx="7863840" cy="1051560"/>
          </a:xfrm>
          <a:prstGeom prst="rect">
            <a:avLst/>
          </a:prstGeom>
          <a:noFill/>
          <a:ln/>
        </p:spPr>
        <p:txBody>
          <a:bodyPr wrap="square" lIns="0" tIns="0" rIns="0" bIns="0" rtlCol="0" anchor="ctr"/>
          <a:lstStyle/>
          <a:p>
            <a:pPr indent="0" marL="0">
              <a:lnSpc>
                <a:spcPct val="115000"/>
              </a:lnSpc>
              <a:buNone/>
            </a:pPr>
            <a:r>
              <a:rPr lang="en-US" sz="1450" dirty="0">
                <a:solidFill>
                  <a:srgbClr val="0D2B32"/>
                </a:solidFill>
                <a:latin typeface="Calibri" pitchFamily="34" charset="0"/>
                <a:ea typeface="Calibri" pitchFamily="34" charset="-122"/>
                <a:cs typeface="Calibri" pitchFamily="34" charset="-120"/>
              </a:rPr>
              <a:t>Richer training materials raised participants' confidence that they would remember correctly, with no matching gain in actual ability to identify the next step. This dissociation motivates a task-embedded post-test instead of a self-report or declarative quiz.</a:t>
            </a:r>
            <a:endParaRPr lang="en-US" sz="1450" dirty="0"/>
          </a:p>
        </p:txBody>
      </p:sp>
      <p:sp>
        <p:nvSpPr>
          <p:cNvPr id="11" name="Shape 9"/>
          <p:cNvSpPr/>
          <p:nvPr/>
        </p:nvSpPr>
        <p:spPr>
          <a:xfrm>
            <a:off x="3794760" y="2167128"/>
            <a:ext cx="7863840" cy="1463040"/>
          </a:xfrm>
          <a:prstGeom prst="roundRect">
            <a:avLst>
              <a:gd name="adj" fmla="val 5000"/>
            </a:avLst>
          </a:prstGeom>
          <a:solidFill>
            <a:srgbClr val="F1F7F7"/>
          </a:solidFill>
          <a:ln/>
        </p:spPr>
      </p:sp>
      <p:sp>
        <p:nvSpPr>
          <p:cNvPr id="12" name="Text 10"/>
          <p:cNvSpPr txBox="1"/>
          <p:nvPr/>
        </p:nvSpPr>
        <p:spPr>
          <a:xfrm>
            <a:off x="3931920" y="2121408"/>
            <a:ext cx="731520" cy="731520"/>
          </a:xfrm>
          <a:prstGeom prst="rect">
            <a:avLst/>
          </a:prstGeom>
          <a:noFill/>
          <a:ln/>
        </p:spPr>
        <p:txBody>
          <a:bodyPr wrap="square" lIns="0" tIns="0" rIns="0" bIns="0" rtlCol="0" anchor="ctr"/>
          <a:lstStyle/>
          <a:p>
            <a:pPr indent="0" marL="0">
              <a:buNone/>
            </a:pPr>
            <a:r>
              <a:rPr lang="en-US" sz="4600" b="1" dirty="0">
                <a:solidFill>
                  <a:srgbClr val="00A896"/>
                </a:solidFill>
                <a:latin typeface="Cambria" pitchFamily="34" charset="0"/>
                <a:ea typeface="Cambria" pitchFamily="34" charset="-122"/>
                <a:cs typeface="Cambria" pitchFamily="34" charset="-120"/>
              </a:rPr>
              <a:t>“</a:t>
            </a:r>
            <a:endParaRPr lang="en-US" sz="4600" dirty="0"/>
          </a:p>
        </p:txBody>
      </p:sp>
      <p:sp>
        <p:nvSpPr>
          <p:cNvPr id="13" name="Text 11"/>
          <p:cNvSpPr txBox="1"/>
          <p:nvPr/>
        </p:nvSpPr>
        <p:spPr>
          <a:xfrm>
            <a:off x="4434840" y="2331720"/>
            <a:ext cx="6949440" cy="1143000"/>
          </a:xfrm>
          <a:prstGeom prst="rect">
            <a:avLst/>
          </a:prstGeom>
          <a:noFill/>
          <a:ln/>
        </p:spPr>
        <p:txBody>
          <a:bodyPr wrap="square" lIns="0" tIns="0" rIns="0" bIns="0" rtlCol="0" anchor="ctr"/>
          <a:lstStyle/>
          <a:p>
            <a:pPr indent="0" marL="0">
              <a:lnSpc>
                <a:spcPct val="120000"/>
              </a:lnSpc>
              <a:buNone/>
            </a:pPr>
            <a:r>
              <a:rPr lang="en-US" sz="1350" i="1" dirty="0">
                <a:solidFill>
                  <a:srgbClr val="1B3C41"/>
                </a:solidFill>
                <a:latin typeface="Calibri" pitchFamily="34" charset="0"/>
                <a:ea typeface="Calibri" pitchFamily="34" charset="-122"/>
                <a:cs typeface="Calibri" pitchFamily="34" charset="-120"/>
              </a:rPr>
              <a:t>Participants rated the chances they would remember how to assemble objects as greater than 2/3 of the time on average, whereas their actual ability showed that only about 1/3 of the time were they able to correctly completely identify all the critical information.</a:t>
            </a:r>
            <a:endParaRPr lang="en-US" sz="1350" dirty="0"/>
          </a:p>
        </p:txBody>
      </p:sp>
      <p:sp>
        <p:nvSpPr>
          <p:cNvPr id="14" name="Text 12"/>
          <p:cNvSpPr txBox="1"/>
          <p:nvPr/>
        </p:nvSpPr>
        <p:spPr>
          <a:xfrm>
            <a:off x="3794760" y="3858768"/>
            <a:ext cx="786384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HOW OUR APPROACH DIFFERS</a:t>
            </a:r>
            <a:endParaRPr lang="en-US" sz="1100" dirty="0"/>
          </a:p>
        </p:txBody>
      </p:sp>
      <p:sp>
        <p:nvSpPr>
          <p:cNvPr id="15" name="Text 13"/>
          <p:cNvSpPr txBox="1"/>
          <p:nvPr/>
        </p:nvSpPr>
        <p:spPr>
          <a:xfrm>
            <a:off x="3794760" y="4151376"/>
            <a:ext cx="7863840" cy="868680"/>
          </a:xfrm>
          <a:prstGeom prst="rect">
            <a:avLst/>
          </a:prstGeom>
          <a:noFill/>
          <a:ln/>
        </p:spPr>
        <p:txBody>
          <a:bodyPr wrap="square" lIns="0" tIns="0" rIns="0" bIns="0" rtlCol="0" anchor="ctr"/>
          <a:lstStyle/>
          <a:p>
            <a:pPr indent="0" marL="0">
              <a:lnSpc>
                <a:spcPct val="115000"/>
              </a:lnSpc>
              <a:buNone/>
            </a:pPr>
            <a:r>
              <a:rPr lang="en-US" sz="1300" dirty="0">
                <a:solidFill>
                  <a:srgbClr val="4C6B70"/>
                </a:solidFill>
                <a:latin typeface="Calibri" pitchFamily="34" charset="0"/>
                <a:ea typeface="Calibri" pitchFamily="34" charset="-122"/>
                <a:cs typeface="Calibri" pitchFamily="34" charset="-120"/>
              </a:rPr>
              <a:t>Clegg et al. vary training media richness. We vary escalation policy instead, and adopt their unassisted, task-embedded outcome measure directly for Experiment 2's next-step post-test.</a:t>
            </a:r>
            <a:endParaRPr lang="en-US" sz="1300" dirty="0"/>
          </a:p>
        </p:txBody>
      </p:sp>
      <p:sp>
        <p:nvSpPr>
          <p:cNvPr id="16" name="Text 14"/>
          <p:cNvSpPr txBox="1"/>
          <p:nvPr/>
        </p:nvSpPr>
        <p:spPr>
          <a:xfrm>
            <a:off x="11475720" y="6446520"/>
            <a:ext cx="548640" cy="320040"/>
          </a:xfrm>
          <a:prstGeom prst="rect">
            <a:avLst/>
          </a:prstGeom>
          <a:noFill/>
          <a:ln/>
        </p:spPr>
        <p:txBody>
          <a:bodyPr wrap="square" lIns="0" tIns="0" rIns="0" bIns="0" rtlCol="0" anchor="ctr"/>
          <a:lstStyle/>
          <a:p>
            <a:pPr algn="r" indent="0" marL="0">
              <a:buNone/>
            </a:pPr>
            <a:r>
              <a:rPr lang="en-US" sz="1100" dirty="0">
                <a:solidFill>
                  <a:srgbClr val="4C6B70"/>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502920"/>
            <a:ext cx="2971800" cy="5715000"/>
          </a:xfrm>
          <a:prstGeom prst="roundRect">
            <a:avLst>
              <a:gd name="adj" fmla="val 3692"/>
            </a:avLst>
          </a:prstGeom>
          <a:solidFill>
            <a:srgbClr val="028090"/>
          </a:solidFill>
          <a:ln/>
        </p:spPr>
      </p:sp>
      <p:sp>
        <p:nvSpPr>
          <p:cNvPr id="3" name="Text 1"/>
          <p:cNvSpPr txBox="1"/>
          <p:nvPr/>
        </p:nvSpPr>
        <p:spPr>
          <a:xfrm>
            <a:off x="731520" y="777240"/>
            <a:ext cx="2514600" cy="365760"/>
          </a:xfrm>
          <a:prstGeom prst="rect">
            <a:avLst/>
          </a:prstGeom>
          <a:noFill/>
          <a:ln/>
        </p:spPr>
        <p:txBody>
          <a:bodyPr wrap="square" lIns="0" tIns="0" rIns="0" bIns="0" rtlCol="0" anchor="ctr"/>
          <a:lstStyle/>
          <a:p>
            <a:pPr indent="0" marL="0">
              <a:buNone/>
            </a:pPr>
            <a:r>
              <a:rPr lang="en-US" sz="1300" b="1" spc="200" kern="0" dirty="0">
                <a:solidFill>
                  <a:srgbClr val="BFE3E0"/>
                </a:solidFill>
                <a:latin typeface="Calibri" pitchFamily="34" charset="0"/>
                <a:ea typeface="Calibri" pitchFamily="34" charset="-122"/>
                <a:cs typeface="Calibri" pitchFamily="34" charset="-120"/>
              </a:rPr>
              <a:t>PAPER 6</a:t>
            </a:r>
            <a:endParaRPr lang="en-US" sz="1300" dirty="0"/>
          </a:p>
        </p:txBody>
      </p:sp>
      <p:sp>
        <p:nvSpPr>
          <p:cNvPr id="4" name="Text 2"/>
          <p:cNvSpPr txBox="1"/>
          <p:nvPr/>
        </p:nvSpPr>
        <p:spPr>
          <a:xfrm>
            <a:off x="731520" y="1143000"/>
            <a:ext cx="2514600" cy="1280160"/>
          </a:xfrm>
          <a:prstGeom prst="rect">
            <a:avLst/>
          </a:prstGeom>
          <a:noFill/>
          <a:ln/>
        </p:spPr>
        <p:txBody>
          <a:bodyPr wrap="square" lIns="0" tIns="0" rIns="0" bIns="0" rtlCol="0" anchor="ctr"/>
          <a:lstStyle/>
          <a:p>
            <a:pPr indent="0" marL="0">
              <a:lnSpc>
                <a:spcPct val="105000"/>
              </a:lnSpc>
              <a:buNone/>
            </a:pPr>
            <a:r>
              <a:rPr lang="en-US" sz="2200" b="1" dirty="0">
                <a:solidFill>
                  <a:srgbClr val="FFFFFF"/>
                </a:solidFill>
                <a:latin typeface="Cambria" pitchFamily="34" charset="0"/>
                <a:ea typeface="Cambria" pitchFamily="34" charset="-122"/>
                <a:cs typeface="Cambria" pitchFamily="34" charset="-120"/>
              </a:rPr>
              <a:t>Uncontaminated</a:t>
            </a:r>
            <a:endParaRPr lang="en-US" sz="2200" dirty="0"/>
          </a:p>
          <a:p>
            <a:pPr indent="0" marL="0">
              <a:lnSpc>
                <a:spcPct val="105000"/>
              </a:lnSpc>
              <a:buNone/>
            </a:pPr>
            <a:r>
              <a:rPr lang="en-US" sz="2200" b="1" dirty="0">
                <a:solidFill>
                  <a:srgbClr val="FFFFFF"/>
                </a:solidFill>
                <a:latin typeface="Cambria" pitchFamily="34" charset="0"/>
                <a:ea typeface="Cambria" pitchFamily="34" charset="-122"/>
                <a:cs typeface="Cambria" pitchFamily="34" charset="-120"/>
              </a:rPr>
              <a:t>corpus</a:t>
            </a:r>
            <a:endParaRPr lang="en-US" sz="2200" dirty="0"/>
          </a:p>
          <a:p>
            <a:pPr indent="0" marL="0">
              <a:lnSpc>
                <a:spcPct val="105000"/>
              </a:lnSpc>
              <a:buNone/>
            </a:pPr>
            <a:r>
              <a:rPr lang="en-US" sz="2200" b="1" dirty="0">
                <a:solidFill>
                  <a:srgbClr val="FFFFFF"/>
                </a:solidFill>
                <a:latin typeface="Cambria" pitchFamily="34" charset="0"/>
                <a:ea typeface="Cambria" pitchFamily="34" charset="-122"/>
                <a:cs typeface="Cambria" pitchFamily="34" charset="-120"/>
              </a:rPr>
              <a:t>construction</a:t>
            </a:r>
            <a:endParaRPr lang="en-US" sz="2200" dirty="0"/>
          </a:p>
        </p:txBody>
      </p:sp>
      <p:sp>
        <p:nvSpPr>
          <p:cNvPr id="5" name="Shape 3"/>
          <p:cNvSpPr/>
          <p:nvPr/>
        </p:nvSpPr>
        <p:spPr>
          <a:xfrm>
            <a:off x="731520" y="2514600"/>
            <a:ext cx="2057400" cy="0"/>
          </a:xfrm>
          <a:prstGeom prst="line">
            <a:avLst/>
          </a:prstGeom>
          <a:noFill/>
          <a:ln w="25400">
            <a:solidFill>
              <a:srgbClr val="02C39A"/>
            </a:solidFill>
            <a:prstDash val="solid"/>
          </a:ln>
        </p:spPr>
      </p:sp>
      <p:sp>
        <p:nvSpPr>
          <p:cNvPr id="6" name="Text 4"/>
          <p:cNvSpPr txBox="1"/>
          <p:nvPr/>
        </p:nvSpPr>
        <p:spPr>
          <a:xfrm>
            <a:off x="731520" y="2697480"/>
            <a:ext cx="2514600" cy="822960"/>
          </a:xfrm>
          <a:prstGeom prst="rect">
            <a:avLst/>
          </a:prstGeom>
          <a:noFill/>
          <a:ln/>
        </p:spPr>
        <p:txBody>
          <a:bodyPr wrap="square" lIns="0" tIns="0" rIns="0" bIns="0" rtlCol="0" anchor="ctr"/>
          <a:lstStyle/>
          <a:p>
            <a:pPr indent="0" marL="0">
              <a:buNone/>
            </a:pPr>
            <a:r>
              <a:rPr lang="en-US" sz="1350" b="1" dirty="0">
                <a:solidFill>
                  <a:srgbClr val="E3F3F1"/>
                </a:solidFill>
                <a:latin typeface="Calibri" pitchFamily="34" charset="0"/>
                <a:ea typeface="Calibri" pitchFamily="34" charset="-122"/>
                <a:cs typeface="Calibri" pitchFamily="34" charset="-120"/>
              </a:rPr>
              <a:t>Kirchenbauer, Mongkolsupawan,</a:t>
            </a:r>
            <a:endParaRPr lang="en-US" sz="1350" dirty="0"/>
          </a:p>
          <a:p>
            <a:pPr indent="0" marL="0">
              <a:buNone/>
            </a:pPr>
            <a:r>
              <a:rPr lang="en-US" sz="1350" b="1" dirty="0">
                <a:solidFill>
                  <a:srgbClr val="E3F3F1"/>
                </a:solidFill>
                <a:latin typeface="Calibri" pitchFamily="34" charset="0"/>
                <a:ea typeface="Calibri" pitchFamily="34" charset="-122"/>
                <a:cs typeface="Calibri" pitchFamily="34" charset="-120"/>
              </a:rPr>
              <a:t>Wen, Goldstein, Ippolito</a:t>
            </a:r>
            <a:endParaRPr lang="en-US" sz="1350" dirty="0"/>
          </a:p>
        </p:txBody>
      </p:sp>
      <p:sp>
        <p:nvSpPr>
          <p:cNvPr id="7" name="Text 5"/>
          <p:cNvSpPr txBox="1"/>
          <p:nvPr/>
        </p:nvSpPr>
        <p:spPr>
          <a:xfrm>
            <a:off x="731520" y="3291840"/>
            <a:ext cx="2514600" cy="1005840"/>
          </a:xfrm>
          <a:prstGeom prst="rect">
            <a:avLst/>
          </a:prstGeom>
          <a:noFill/>
          <a:ln/>
        </p:spPr>
        <p:txBody>
          <a:bodyPr wrap="square" lIns="0" tIns="0" rIns="0" bIns="0" rtlCol="0" anchor="ctr"/>
          <a:lstStyle/>
          <a:p>
            <a:pPr indent="0" marL="0">
              <a:buNone/>
            </a:pPr>
            <a:r>
              <a:rPr lang="en-US" sz="1150" i="1" dirty="0">
                <a:solidFill>
                  <a:srgbClr val="AEDAD6"/>
                </a:solidFill>
                <a:latin typeface="Calibri" pitchFamily="34" charset="0"/>
                <a:ea typeface="Calibri" pitchFamily="34" charset="-122"/>
                <a:cs typeface="Calibri" pitchFamily="34" charset="-120"/>
              </a:rPr>
              <a:t>FictionalQA: A Dataset for Studying Memorization and Knowledge Acquisition</a:t>
            </a:r>
            <a:endParaRPr lang="en-US" sz="1150" dirty="0"/>
          </a:p>
        </p:txBody>
      </p:sp>
      <p:sp>
        <p:nvSpPr>
          <p:cNvPr id="8" name="Text 6"/>
          <p:cNvSpPr txBox="1"/>
          <p:nvPr/>
        </p:nvSpPr>
        <p:spPr>
          <a:xfrm>
            <a:off x="731520" y="5577840"/>
            <a:ext cx="2514600" cy="502920"/>
          </a:xfrm>
          <a:prstGeom prst="rect">
            <a:avLst/>
          </a:prstGeom>
          <a:noFill/>
          <a:ln/>
        </p:spPr>
        <p:txBody>
          <a:bodyPr wrap="square" lIns="0" tIns="0" rIns="0" bIns="0" rtlCol="0" anchor="ctr"/>
          <a:lstStyle/>
          <a:p>
            <a:pPr indent="0" marL="0">
              <a:buNone/>
            </a:pPr>
            <a:r>
              <a:rPr lang="en-US" sz="950" dirty="0">
                <a:solidFill>
                  <a:srgbClr val="8FC4C0"/>
                </a:solidFill>
                <a:latin typeface="Calibri" pitchFamily="34" charset="0"/>
                <a:ea typeface="Calibri" pitchFamily="34" charset="-122"/>
                <a:cs typeface="Calibri" pitchFamily="34" charset="-120"/>
              </a:rPr>
              <a:t>arXiv:2506.05639, 2026</a:t>
            </a:r>
            <a:endParaRPr lang="en-US" sz="950" dirty="0"/>
          </a:p>
        </p:txBody>
      </p:sp>
      <p:sp>
        <p:nvSpPr>
          <p:cNvPr id="9" name="Text 7"/>
          <p:cNvSpPr txBox="1"/>
          <p:nvPr/>
        </p:nvSpPr>
        <p:spPr>
          <a:xfrm>
            <a:off x="3794760" y="502920"/>
            <a:ext cx="7863840" cy="457200"/>
          </a:xfrm>
          <a:prstGeom prst="rect">
            <a:avLst/>
          </a:prstGeom>
          <a:noFill/>
          <a:ln/>
        </p:spPr>
        <p:txBody>
          <a:bodyPr wrap="square" lIns="0" tIns="0" rIns="0" bIns="0" rtlCol="0" anchor="ctr"/>
          <a:lstStyle/>
          <a:p>
            <a:pPr indent="0" marL="0">
              <a:lnSpc>
                <a:spcPct val="105000"/>
              </a:lnSpc>
              <a:buNone/>
            </a:pPr>
            <a:r>
              <a:rPr lang="en-US" sz="2100" b="1" dirty="0">
                <a:solidFill>
                  <a:srgbClr val="0D2B32"/>
                </a:solidFill>
                <a:latin typeface="Cambria" pitchFamily="34" charset="0"/>
                <a:ea typeface="Cambria" pitchFamily="34" charset="-122"/>
                <a:cs typeface="Cambria" pitchFamily="34" charset="-120"/>
              </a:rPr>
              <a:t>FictionalQA</a:t>
            </a:r>
            <a:endParaRPr lang="en-US" sz="2100" dirty="0"/>
          </a:p>
        </p:txBody>
      </p:sp>
      <p:sp>
        <p:nvSpPr>
          <p:cNvPr id="10" name="Text 8"/>
          <p:cNvSpPr txBox="1"/>
          <p:nvPr/>
        </p:nvSpPr>
        <p:spPr>
          <a:xfrm>
            <a:off x="3794760" y="1069848"/>
            <a:ext cx="7863840" cy="1051560"/>
          </a:xfrm>
          <a:prstGeom prst="rect">
            <a:avLst/>
          </a:prstGeom>
          <a:noFill/>
          <a:ln/>
        </p:spPr>
        <p:txBody>
          <a:bodyPr wrap="square" lIns="0" tIns="0" rIns="0" bIns="0" rtlCol="0" anchor="ctr"/>
          <a:lstStyle/>
          <a:p>
            <a:pPr indent="0" marL="0">
              <a:lnSpc>
                <a:spcPct val="115000"/>
              </a:lnSpc>
              <a:buNone/>
            </a:pPr>
            <a:r>
              <a:rPr lang="en-US" sz="1450" dirty="0">
                <a:solidFill>
                  <a:srgbClr val="0D2B32"/>
                </a:solidFill>
                <a:latin typeface="Calibri" pitchFamily="34" charset="0"/>
                <a:ea typeface="Calibri" pitchFamily="34" charset="-122"/>
                <a:cs typeface="Calibri" pitchFamily="34" charset="-120"/>
              </a:rPr>
              <a:t>A five-stage pipeline (seed, fictsheet, fiction, Q&amp;A, annotation) that generates fictional documents and certifies them by prompting the generator model blind and then informed, discarding items answerable without the document. Our corpus and contamination check follow this pipeline directly.</a:t>
            </a:r>
            <a:endParaRPr lang="en-US" sz="1450" dirty="0"/>
          </a:p>
        </p:txBody>
      </p:sp>
      <p:sp>
        <p:nvSpPr>
          <p:cNvPr id="11" name="Shape 9"/>
          <p:cNvSpPr/>
          <p:nvPr/>
        </p:nvSpPr>
        <p:spPr>
          <a:xfrm>
            <a:off x="3794760" y="2167128"/>
            <a:ext cx="7863840" cy="1463040"/>
          </a:xfrm>
          <a:prstGeom prst="roundRect">
            <a:avLst>
              <a:gd name="adj" fmla="val 5000"/>
            </a:avLst>
          </a:prstGeom>
          <a:solidFill>
            <a:srgbClr val="F1F7F7"/>
          </a:solidFill>
          <a:ln/>
        </p:spPr>
      </p:sp>
      <p:sp>
        <p:nvSpPr>
          <p:cNvPr id="12" name="Text 10"/>
          <p:cNvSpPr txBox="1"/>
          <p:nvPr/>
        </p:nvSpPr>
        <p:spPr>
          <a:xfrm>
            <a:off x="3931920" y="2121408"/>
            <a:ext cx="731520" cy="731520"/>
          </a:xfrm>
          <a:prstGeom prst="rect">
            <a:avLst/>
          </a:prstGeom>
          <a:noFill/>
          <a:ln/>
        </p:spPr>
        <p:txBody>
          <a:bodyPr wrap="square" lIns="0" tIns="0" rIns="0" bIns="0" rtlCol="0" anchor="ctr"/>
          <a:lstStyle/>
          <a:p>
            <a:pPr indent="0" marL="0">
              <a:buNone/>
            </a:pPr>
            <a:r>
              <a:rPr lang="en-US" sz="4600" b="1" dirty="0">
                <a:solidFill>
                  <a:srgbClr val="00A896"/>
                </a:solidFill>
                <a:latin typeface="Cambria" pitchFamily="34" charset="0"/>
                <a:ea typeface="Cambria" pitchFamily="34" charset="-122"/>
                <a:cs typeface="Cambria" pitchFamily="34" charset="-120"/>
              </a:rPr>
              <a:t>“</a:t>
            </a:r>
            <a:endParaRPr lang="en-US" sz="4600" dirty="0"/>
          </a:p>
        </p:txBody>
      </p:sp>
      <p:sp>
        <p:nvSpPr>
          <p:cNvPr id="13" name="Text 11"/>
          <p:cNvSpPr txBox="1"/>
          <p:nvPr/>
        </p:nvSpPr>
        <p:spPr>
          <a:xfrm>
            <a:off x="4434840" y="2331720"/>
            <a:ext cx="6949440" cy="1143000"/>
          </a:xfrm>
          <a:prstGeom prst="rect">
            <a:avLst/>
          </a:prstGeom>
          <a:noFill/>
          <a:ln/>
        </p:spPr>
        <p:txBody>
          <a:bodyPr wrap="square" lIns="0" tIns="0" rIns="0" bIns="0" rtlCol="0" anchor="ctr"/>
          <a:lstStyle/>
          <a:p>
            <a:pPr indent="0" marL="0">
              <a:lnSpc>
                <a:spcPct val="120000"/>
              </a:lnSpc>
              <a:buNone/>
            </a:pPr>
            <a:r>
              <a:rPr lang="en-US" sz="1350" i="1" dirty="0">
                <a:solidFill>
                  <a:srgbClr val="1B3C41"/>
                </a:solidFill>
                <a:latin typeface="Calibri" pitchFamily="34" charset="0"/>
                <a:ea typeface="Calibri" pitchFamily="34" charset="-122"/>
                <a:cs typeface="Calibri" pitchFamily="34" charset="-120"/>
              </a:rPr>
              <a:t>We try to ensure that the questions are not answerable by a powerful language model that has never even seen the fictional documents … blind with only the question in context, and informed via in-context access to the fictional document.</a:t>
            </a:r>
            <a:endParaRPr lang="en-US" sz="1350" dirty="0"/>
          </a:p>
        </p:txBody>
      </p:sp>
      <p:sp>
        <p:nvSpPr>
          <p:cNvPr id="14" name="Text 12"/>
          <p:cNvSpPr txBox="1"/>
          <p:nvPr/>
        </p:nvSpPr>
        <p:spPr>
          <a:xfrm>
            <a:off x="3794760" y="3858768"/>
            <a:ext cx="786384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HOW OUR APPROACH DIFFERS</a:t>
            </a:r>
            <a:endParaRPr lang="en-US" sz="1100" dirty="0"/>
          </a:p>
        </p:txBody>
      </p:sp>
      <p:sp>
        <p:nvSpPr>
          <p:cNvPr id="15" name="Text 13"/>
          <p:cNvSpPr txBox="1"/>
          <p:nvPr/>
        </p:nvSpPr>
        <p:spPr>
          <a:xfrm>
            <a:off x="3794760" y="4151376"/>
            <a:ext cx="7863840" cy="868680"/>
          </a:xfrm>
          <a:prstGeom prst="rect">
            <a:avLst/>
          </a:prstGeom>
          <a:noFill/>
          <a:ln/>
        </p:spPr>
        <p:txBody>
          <a:bodyPr wrap="square" lIns="0" tIns="0" rIns="0" bIns="0" rtlCol="0" anchor="ctr"/>
          <a:lstStyle/>
          <a:p>
            <a:pPr indent="0" marL="0">
              <a:lnSpc>
                <a:spcPct val="115000"/>
              </a:lnSpc>
              <a:buNone/>
            </a:pPr>
            <a:r>
              <a:rPr lang="en-US" sz="1300" dirty="0">
                <a:solidFill>
                  <a:srgbClr val="4C6B70"/>
                </a:solidFill>
                <a:latin typeface="Calibri" pitchFamily="34" charset="0"/>
                <a:ea typeface="Calibri" pitchFamily="34" charset="-122"/>
                <a:cs typeface="Calibri" pitchFamily="34" charset="-120"/>
              </a:rPr>
              <a:t>Kirchenbauer et al. build a general fictional dataset for memorization research. We reuse only the blind-versus-informed contamination check, applied to one invented internal tool sized for a two-person, one-semester build.</a:t>
            </a:r>
            <a:endParaRPr lang="en-US" sz="1300" dirty="0"/>
          </a:p>
        </p:txBody>
      </p:sp>
      <p:sp>
        <p:nvSpPr>
          <p:cNvPr id="16" name="Text 14"/>
          <p:cNvSpPr txBox="1"/>
          <p:nvPr/>
        </p:nvSpPr>
        <p:spPr>
          <a:xfrm>
            <a:off x="11475720" y="6446520"/>
            <a:ext cx="548640" cy="320040"/>
          </a:xfrm>
          <a:prstGeom prst="rect">
            <a:avLst/>
          </a:prstGeom>
          <a:noFill/>
          <a:ln/>
        </p:spPr>
        <p:txBody>
          <a:bodyPr wrap="square" lIns="0" tIns="0" rIns="0" bIns="0" rtlCol="0" anchor="ctr"/>
          <a:lstStyle/>
          <a:p>
            <a:pPr algn="r" indent="0" marL="0">
              <a:buNone/>
            </a:pPr>
            <a:r>
              <a:rPr lang="en-US" sz="1100" dirty="0">
                <a:solidFill>
                  <a:srgbClr val="4C6B70"/>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502920"/>
            <a:ext cx="2971800" cy="5715000"/>
          </a:xfrm>
          <a:prstGeom prst="roundRect">
            <a:avLst>
              <a:gd name="adj" fmla="val 3692"/>
            </a:avLst>
          </a:prstGeom>
          <a:solidFill>
            <a:srgbClr val="028090"/>
          </a:solidFill>
          <a:ln/>
        </p:spPr>
      </p:sp>
      <p:sp>
        <p:nvSpPr>
          <p:cNvPr id="3" name="Text 1"/>
          <p:cNvSpPr txBox="1"/>
          <p:nvPr/>
        </p:nvSpPr>
        <p:spPr>
          <a:xfrm>
            <a:off x="731520" y="777240"/>
            <a:ext cx="2514600" cy="365760"/>
          </a:xfrm>
          <a:prstGeom prst="rect">
            <a:avLst/>
          </a:prstGeom>
          <a:noFill/>
          <a:ln/>
        </p:spPr>
        <p:txBody>
          <a:bodyPr wrap="square" lIns="0" tIns="0" rIns="0" bIns="0" rtlCol="0" anchor="ctr"/>
          <a:lstStyle/>
          <a:p>
            <a:pPr indent="0" marL="0">
              <a:buNone/>
            </a:pPr>
            <a:r>
              <a:rPr lang="en-US" sz="1300" b="1" spc="200" kern="0" dirty="0">
                <a:solidFill>
                  <a:srgbClr val="BFE3E0"/>
                </a:solidFill>
                <a:latin typeface="Calibri" pitchFamily="34" charset="0"/>
                <a:ea typeface="Calibri" pitchFamily="34" charset="-122"/>
                <a:cs typeface="Calibri" pitchFamily="34" charset="-120"/>
              </a:rPr>
              <a:t>PAPER 7</a:t>
            </a:r>
            <a:endParaRPr lang="en-US" sz="1300" dirty="0"/>
          </a:p>
        </p:txBody>
      </p:sp>
      <p:sp>
        <p:nvSpPr>
          <p:cNvPr id="4" name="Text 2"/>
          <p:cNvSpPr txBox="1"/>
          <p:nvPr/>
        </p:nvSpPr>
        <p:spPr>
          <a:xfrm>
            <a:off x="731520" y="1143000"/>
            <a:ext cx="2514600" cy="1280160"/>
          </a:xfrm>
          <a:prstGeom prst="rect">
            <a:avLst/>
          </a:prstGeom>
          <a:noFill/>
          <a:ln/>
        </p:spPr>
        <p:txBody>
          <a:bodyPr wrap="square" lIns="0" tIns="0" rIns="0" bIns="0" rtlCol="0" anchor="ctr"/>
          <a:lstStyle/>
          <a:p>
            <a:pPr indent="0" marL="0">
              <a:lnSpc>
                <a:spcPct val="105000"/>
              </a:lnSpc>
              <a:buNone/>
            </a:pPr>
            <a:r>
              <a:rPr lang="en-US" sz="2200" b="1" dirty="0">
                <a:solidFill>
                  <a:srgbClr val="FFFFFF"/>
                </a:solidFill>
                <a:latin typeface="Cambria" pitchFamily="34" charset="0"/>
                <a:ea typeface="Cambria" pitchFamily="34" charset="-122"/>
                <a:cs typeface="Cambria" pitchFamily="34" charset="-120"/>
              </a:rPr>
              <a:t>Automated,</a:t>
            </a:r>
            <a:endParaRPr lang="en-US" sz="2200" dirty="0"/>
          </a:p>
          <a:p>
            <a:pPr indent="0" marL="0">
              <a:lnSpc>
                <a:spcPct val="105000"/>
              </a:lnSpc>
              <a:buNone/>
            </a:pPr>
            <a:r>
              <a:rPr lang="en-US" sz="2200" b="1" dirty="0">
                <a:solidFill>
                  <a:srgbClr val="FFFFFF"/>
                </a:solidFill>
                <a:latin typeface="Cambria" pitchFamily="34" charset="0"/>
                <a:ea typeface="Cambria" pitchFamily="34" charset="-122"/>
                <a:cs typeface="Cambria" pitchFamily="34" charset="-120"/>
              </a:rPr>
              <a:t>contamination-</a:t>
            </a:r>
            <a:endParaRPr lang="en-US" sz="2200" dirty="0"/>
          </a:p>
          <a:p>
            <a:pPr indent="0" marL="0">
              <a:lnSpc>
                <a:spcPct val="105000"/>
              </a:lnSpc>
              <a:buNone/>
            </a:pPr>
            <a:r>
              <a:rPr lang="en-US" sz="2200" b="1" dirty="0">
                <a:solidFill>
                  <a:srgbClr val="FFFFFF"/>
                </a:solidFill>
                <a:latin typeface="Cambria" pitchFamily="34" charset="0"/>
                <a:ea typeface="Cambria" pitchFamily="34" charset="-122"/>
                <a:cs typeface="Cambria" pitchFamily="34" charset="-120"/>
              </a:rPr>
              <a:t>resistant benchmarks</a:t>
            </a:r>
            <a:endParaRPr lang="en-US" sz="2200" dirty="0"/>
          </a:p>
        </p:txBody>
      </p:sp>
      <p:sp>
        <p:nvSpPr>
          <p:cNvPr id="5" name="Shape 3"/>
          <p:cNvSpPr/>
          <p:nvPr/>
        </p:nvSpPr>
        <p:spPr>
          <a:xfrm>
            <a:off x="731520" y="2514600"/>
            <a:ext cx="2057400" cy="0"/>
          </a:xfrm>
          <a:prstGeom prst="line">
            <a:avLst/>
          </a:prstGeom>
          <a:noFill/>
          <a:ln w="25400">
            <a:solidFill>
              <a:srgbClr val="02C39A"/>
            </a:solidFill>
            <a:prstDash val="solid"/>
          </a:ln>
        </p:spPr>
      </p:sp>
      <p:sp>
        <p:nvSpPr>
          <p:cNvPr id="6" name="Text 4"/>
          <p:cNvSpPr txBox="1"/>
          <p:nvPr/>
        </p:nvSpPr>
        <p:spPr>
          <a:xfrm>
            <a:off x="731520" y="2697480"/>
            <a:ext cx="2514600" cy="822960"/>
          </a:xfrm>
          <a:prstGeom prst="rect">
            <a:avLst/>
          </a:prstGeom>
          <a:noFill/>
          <a:ln/>
        </p:spPr>
        <p:txBody>
          <a:bodyPr wrap="square" lIns="0" tIns="0" rIns="0" bIns="0" rtlCol="0" anchor="ctr"/>
          <a:lstStyle/>
          <a:p>
            <a:pPr indent="0" marL="0">
              <a:buNone/>
            </a:pPr>
            <a:r>
              <a:rPr lang="en-US" sz="1350" b="1" dirty="0">
                <a:solidFill>
                  <a:srgbClr val="E3F3F1"/>
                </a:solidFill>
                <a:latin typeface="Calibri" pitchFamily="34" charset="0"/>
                <a:ea typeface="Calibri" pitchFamily="34" charset="-122"/>
                <a:cs typeface="Calibri" pitchFamily="34" charset="-120"/>
              </a:rPr>
              <a:t>Sharma, Wolfers, Yıldız</a:t>
            </a:r>
            <a:endParaRPr lang="en-US" sz="1350" dirty="0"/>
          </a:p>
        </p:txBody>
      </p:sp>
      <p:sp>
        <p:nvSpPr>
          <p:cNvPr id="7" name="Text 5"/>
          <p:cNvSpPr txBox="1"/>
          <p:nvPr/>
        </p:nvSpPr>
        <p:spPr>
          <a:xfrm>
            <a:off x="731520" y="3291840"/>
            <a:ext cx="2514600" cy="1005840"/>
          </a:xfrm>
          <a:prstGeom prst="rect">
            <a:avLst/>
          </a:prstGeom>
          <a:noFill/>
          <a:ln/>
        </p:spPr>
        <p:txBody>
          <a:bodyPr wrap="square" lIns="0" tIns="0" rIns="0" bIns="0" rtlCol="0" anchor="ctr"/>
          <a:lstStyle/>
          <a:p>
            <a:pPr indent="0" marL="0">
              <a:buNone/>
            </a:pPr>
            <a:r>
              <a:rPr lang="en-US" sz="1150" i="1" dirty="0">
                <a:solidFill>
                  <a:srgbClr val="AEDAD6"/>
                </a:solidFill>
                <a:latin typeface="Calibri" pitchFamily="34" charset="0"/>
                <a:ea typeface="Calibri" pitchFamily="34" charset="-122"/>
                <a:cs typeface="Calibri" pitchFamily="34" charset="-120"/>
              </a:rPr>
              <a:t>From Raw Corpora to Domain Benchmarks: Automated Evaluation of LLM Domain Expertise</a:t>
            </a:r>
            <a:endParaRPr lang="en-US" sz="1150" dirty="0"/>
          </a:p>
        </p:txBody>
      </p:sp>
      <p:sp>
        <p:nvSpPr>
          <p:cNvPr id="8" name="Text 6"/>
          <p:cNvSpPr txBox="1"/>
          <p:nvPr/>
        </p:nvSpPr>
        <p:spPr>
          <a:xfrm>
            <a:off x="731520" y="5577840"/>
            <a:ext cx="2514600" cy="502920"/>
          </a:xfrm>
          <a:prstGeom prst="rect">
            <a:avLst/>
          </a:prstGeom>
          <a:noFill/>
          <a:ln/>
        </p:spPr>
        <p:txBody>
          <a:bodyPr wrap="square" lIns="0" tIns="0" rIns="0" bIns="0" rtlCol="0" anchor="ctr"/>
          <a:lstStyle/>
          <a:p>
            <a:pPr indent="0" marL="0">
              <a:buNone/>
            </a:pPr>
            <a:r>
              <a:rPr lang="en-US" sz="950" dirty="0">
                <a:solidFill>
                  <a:srgbClr val="8FC4C0"/>
                </a:solidFill>
                <a:latin typeface="Calibri" pitchFamily="34" charset="0"/>
                <a:ea typeface="Calibri" pitchFamily="34" charset="-122"/>
                <a:cs typeface="Calibri" pitchFamily="34" charset="-120"/>
              </a:rPr>
              <a:t>arXiv:2506.07658, 2026</a:t>
            </a:r>
            <a:endParaRPr lang="en-US" sz="950" dirty="0"/>
          </a:p>
        </p:txBody>
      </p:sp>
      <p:sp>
        <p:nvSpPr>
          <p:cNvPr id="9" name="Text 7"/>
          <p:cNvSpPr txBox="1"/>
          <p:nvPr/>
        </p:nvSpPr>
        <p:spPr>
          <a:xfrm>
            <a:off x="3794760" y="502920"/>
            <a:ext cx="7863840" cy="457200"/>
          </a:xfrm>
          <a:prstGeom prst="rect">
            <a:avLst/>
          </a:prstGeom>
          <a:noFill/>
          <a:ln/>
        </p:spPr>
        <p:txBody>
          <a:bodyPr wrap="square" lIns="0" tIns="0" rIns="0" bIns="0" rtlCol="0" anchor="ctr"/>
          <a:lstStyle/>
          <a:p>
            <a:pPr indent="0" marL="0">
              <a:lnSpc>
                <a:spcPct val="105000"/>
              </a:lnSpc>
              <a:buNone/>
            </a:pPr>
            <a:r>
              <a:rPr lang="en-US" sz="2100" b="1" dirty="0">
                <a:solidFill>
                  <a:srgbClr val="0D2B32"/>
                </a:solidFill>
                <a:latin typeface="Cambria" pitchFamily="34" charset="0"/>
                <a:ea typeface="Cambria" pitchFamily="34" charset="-122"/>
                <a:cs typeface="Cambria" pitchFamily="34" charset="-120"/>
              </a:rPr>
              <a:t>From Raw Corpora to Domain Benchmarks</a:t>
            </a:r>
            <a:endParaRPr lang="en-US" sz="2100" dirty="0"/>
          </a:p>
        </p:txBody>
      </p:sp>
      <p:sp>
        <p:nvSpPr>
          <p:cNvPr id="10" name="Text 8"/>
          <p:cNvSpPr txBox="1"/>
          <p:nvPr/>
        </p:nvSpPr>
        <p:spPr>
          <a:xfrm>
            <a:off x="3794760" y="1069848"/>
            <a:ext cx="7863840" cy="1051560"/>
          </a:xfrm>
          <a:prstGeom prst="rect">
            <a:avLst/>
          </a:prstGeom>
          <a:noFill/>
          <a:ln/>
        </p:spPr>
        <p:txBody>
          <a:bodyPr wrap="square" lIns="0" tIns="0" rIns="0" bIns="0" rtlCol="0" anchor="ctr"/>
          <a:lstStyle/>
          <a:p>
            <a:pPr indent="0" marL="0">
              <a:lnSpc>
                <a:spcPct val="115000"/>
              </a:lnSpc>
              <a:buNone/>
            </a:pPr>
            <a:r>
              <a:rPr lang="en-US" sz="1450" dirty="0">
                <a:solidFill>
                  <a:srgbClr val="0D2B32"/>
                </a:solidFill>
                <a:latin typeface="Calibri" pitchFamily="34" charset="0"/>
                <a:ea typeface="Calibri" pitchFamily="34" charset="-122"/>
                <a:cs typeface="Calibri" pitchFamily="34" charset="-120"/>
              </a:rPr>
              <a:t>A deterministic pipeline that turns a raw domain corpus into a completion-style benchmark by extracting domain vocabulary as prediction targets, avoiding dependence on another LLM or costly human annotation to certify a corpus as uncontaminated — a second angle on the same contamination problem FictionalQA addresses.</a:t>
            </a:r>
            <a:endParaRPr lang="en-US" sz="1450" dirty="0"/>
          </a:p>
        </p:txBody>
      </p:sp>
      <p:sp>
        <p:nvSpPr>
          <p:cNvPr id="11" name="Shape 9"/>
          <p:cNvSpPr/>
          <p:nvPr/>
        </p:nvSpPr>
        <p:spPr>
          <a:xfrm>
            <a:off x="3794760" y="2167128"/>
            <a:ext cx="7863840" cy="1051560"/>
          </a:xfrm>
          <a:prstGeom prst="roundRect">
            <a:avLst>
              <a:gd name="adj" fmla="val 6957"/>
            </a:avLst>
          </a:prstGeom>
          <a:solidFill>
            <a:srgbClr val="F1F7F7"/>
          </a:solidFill>
          <a:ln/>
        </p:spPr>
      </p:sp>
      <p:sp>
        <p:nvSpPr>
          <p:cNvPr id="12" name="Text 10"/>
          <p:cNvSpPr txBox="1"/>
          <p:nvPr/>
        </p:nvSpPr>
        <p:spPr>
          <a:xfrm>
            <a:off x="3931920" y="2121408"/>
            <a:ext cx="731520" cy="731520"/>
          </a:xfrm>
          <a:prstGeom prst="rect">
            <a:avLst/>
          </a:prstGeom>
          <a:noFill/>
          <a:ln/>
        </p:spPr>
        <p:txBody>
          <a:bodyPr wrap="square" lIns="0" tIns="0" rIns="0" bIns="0" rtlCol="0" anchor="ctr"/>
          <a:lstStyle/>
          <a:p>
            <a:pPr indent="0" marL="0">
              <a:buNone/>
            </a:pPr>
            <a:r>
              <a:rPr lang="en-US" sz="4600" b="1" dirty="0">
                <a:solidFill>
                  <a:srgbClr val="00A896"/>
                </a:solidFill>
                <a:latin typeface="Cambria" pitchFamily="34" charset="0"/>
                <a:ea typeface="Cambria" pitchFamily="34" charset="-122"/>
                <a:cs typeface="Cambria" pitchFamily="34" charset="-120"/>
              </a:rPr>
              <a:t>“</a:t>
            </a:r>
            <a:endParaRPr lang="en-US" sz="4600" dirty="0"/>
          </a:p>
        </p:txBody>
      </p:sp>
      <p:sp>
        <p:nvSpPr>
          <p:cNvPr id="13" name="Text 11"/>
          <p:cNvSpPr txBox="1"/>
          <p:nvPr/>
        </p:nvSpPr>
        <p:spPr>
          <a:xfrm>
            <a:off x="4434840" y="2331720"/>
            <a:ext cx="6949440" cy="731520"/>
          </a:xfrm>
          <a:prstGeom prst="rect">
            <a:avLst/>
          </a:prstGeom>
          <a:noFill/>
          <a:ln/>
        </p:spPr>
        <p:txBody>
          <a:bodyPr wrap="square" lIns="0" tIns="0" rIns="0" bIns="0" rtlCol="0" anchor="ctr"/>
          <a:lstStyle/>
          <a:p>
            <a:pPr indent="0" marL="0">
              <a:lnSpc>
                <a:spcPct val="120000"/>
              </a:lnSpc>
              <a:buNone/>
            </a:pPr>
            <a:r>
              <a:rPr lang="en-US" sz="1350" i="1" dirty="0">
                <a:solidFill>
                  <a:srgbClr val="1B3C41"/>
                </a:solidFill>
                <a:latin typeface="Calibri" pitchFamily="34" charset="0"/>
                <a:ea typeface="Calibri" pitchFamily="34" charset="-122"/>
                <a:cs typeface="Calibri" pitchFamily="34" charset="-120"/>
              </a:rPr>
              <a:t>Scalable, domain-specific, LLM-independent, and unbiased evaluation of both base and chat models.</a:t>
            </a:r>
            <a:endParaRPr lang="en-US" sz="1350" dirty="0"/>
          </a:p>
        </p:txBody>
      </p:sp>
      <p:sp>
        <p:nvSpPr>
          <p:cNvPr id="14" name="Text 12"/>
          <p:cNvSpPr txBox="1"/>
          <p:nvPr/>
        </p:nvSpPr>
        <p:spPr>
          <a:xfrm>
            <a:off x="3794760" y="3447288"/>
            <a:ext cx="786384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HOW OUR APPROACH DIFFERS</a:t>
            </a:r>
            <a:endParaRPr lang="en-US" sz="1100" dirty="0"/>
          </a:p>
        </p:txBody>
      </p:sp>
      <p:sp>
        <p:nvSpPr>
          <p:cNvPr id="15" name="Text 13"/>
          <p:cNvSpPr txBox="1"/>
          <p:nvPr/>
        </p:nvSpPr>
        <p:spPr>
          <a:xfrm>
            <a:off x="3794760" y="3739896"/>
            <a:ext cx="7863840" cy="868680"/>
          </a:xfrm>
          <a:prstGeom prst="rect">
            <a:avLst/>
          </a:prstGeom>
          <a:noFill/>
          <a:ln/>
        </p:spPr>
        <p:txBody>
          <a:bodyPr wrap="square" lIns="0" tIns="0" rIns="0" bIns="0" rtlCol="0" anchor="ctr"/>
          <a:lstStyle/>
          <a:p>
            <a:pPr indent="0" marL="0">
              <a:lnSpc>
                <a:spcPct val="115000"/>
              </a:lnSpc>
              <a:buNone/>
            </a:pPr>
            <a:r>
              <a:rPr lang="en-US" sz="1300" dirty="0">
                <a:solidFill>
                  <a:srgbClr val="4C6B70"/>
                </a:solidFill>
                <a:latin typeface="Calibri" pitchFamily="34" charset="0"/>
                <a:ea typeface="Calibri" pitchFamily="34" charset="-122"/>
                <a:cs typeface="Calibri" pitchFamily="34" charset="-120"/>
              </a:rPr>
              <a:t>Sharma et al.'s pipeline targets large scraped domain corpora. Our corpus is small, invented, and hand-authored, so we follow Kirchenbauer et al.'s blind-vs-informed check rather than their vocabulary-extraction approach.</a:t>
            </a:r>
            <a:endParaRPr lang="en-US" sz="1300" dirty="0"/>
          </a:p>
        </p:txBody>
      </p:sp>
      <p:sp>
        <p:nvSpPr>
          <p:cNvPr id="16" name="Text 14"/>
          <p:cNvSpPr txBox="1"/>
          <p:nvPr/>
        </p:nvSpPr>
        <p:spPr>
          <a:xfrm>
            <a:off x="11475720" y="6446520"/>
            <a:ext cx="548640" cy="320040"/>
          </a:xfrm>
          <a:prstGeom prst="rect">
            <a:avLst/>
          </a:prstGeom>
          <a:noFill/>
          <a:ln/>
        </p:spPr>
        <p:txBody>
          <a:bodyPr wrap="square" lIns="0" tIns="0" rIns="0" bIns="0" rtlCol="0" anchor="ctr"/>
          <a:lstStyle/>
          <a:p>
            <a:pPr algn="r" indent="0" marL="0">
              <a:buNone/>
            </a:pPr>
            <a:r>
              <a:rPr lang="en-US" sz="1100" dirty="0">
                <a:solidFill>
                  <a:srgbClr val="4C6B70"/>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502920"/>
            <a:ext cx="2971800" cy="5715000"/>
          </a:xfrm>
          <a:prstGeom prst="roundRect">
            <a:avLst>
              <a:gd name="adj" fmla="val 3692"/>
            </a:avLst>
          </a:prstGeom>
          <a:solidFill>
            <a:srgbClr val="028090"/>
          </a:solidFill>
          <a:ln/>
        </p:spPr>
      </p:sp>
      <p:sp>
        <p:nvSpPr>
          <p:cNvPr id="3" name="Text 1"/>
          <p:cNvSpPr txBox="1"/>
          <p:nvPr/>
        </p:nvSpPr>
        <p:spPr>
          <a:xfrm>
            <a:off x="731520" y="777240"/>
            <a:ext cx="2514600" cy="365760"/>
          </a:xfrm>
          <a:prstGeom prst="rect">
            <a:avLst/>
          </a:prstGeom>
          <a:noFill/>
          <a:ln/>
        </p:spPr>
        <p:txBody>
          <a:bodyPr wrap="square" lIns="0" tIns="0" rIns="0" bIns="0" rtlCol="0" anchor="ctr"/>
          <a:lstStyle/>
          <a:p>
            <a:pPr indent="0" marL="0">
              <a:buNone/>
            </a:pPr>
            <a:r>
              <a:rPr lang="en-US" sz="1300" b="1" spc="200" kern="0" dirty="0">
                <a:solidFill>
                  <a:srgbClr val="BFE3E0"/>
                </a:solidFill>
                <a:latin typeface="Calibri" pitchFamily="34" charset="0"/>
                <a:ea typeface="Calibri" pitchFamily="34" charset="-122"/>
                <a:cs typeface="Calibri" pitchFamily="34" charset="-120"/>
              </a:rPr>
              <a:t>PAPER 8</a:t>
            </a:r>
            <a:endParaRPr lang="en-US" sz="1300" dirty="0"/>
          </a:p>
        </p:txBody>
      </p:sp>
      <p:sp>
        <p:nvSpPr>
          <p:cNvPr id="4" name="Text 2"/>
          <p:cNvSpPr txBox="1"/>
          <p:nvPr/>
        </p:nvSpPr>
        <p:spPr>
          <a:xfrm>
            <a:off x="731520" y="1143000"/>
            <a:ext cx="2514600" cy="1280160"/>
          </a:xfrm>
          <a:prstGeom prst="rect">
            <a:avLst/>
          </a:prstGeom>
          <a:noFill/>
          <a:ln/>
        </p:spPr>
        <p:txBody>
          <a:bodyPr wrap="square" lIns="0" tIns="0" rIns="0" bIns="0" rtlCol="0" anchor="ctr"/>
          <a:lstStyle/>
          <a:p>
            <a:pPr indent="0" marL="0">
              <a:lnSpc>
                <a:spcPct val="105000"/>
              </a:lnSpc>
              <a:buNone/>
            </a:pPr>
            <a:r>
              <a:rPr lang="en-US" sz="2200" b="1" dirty="0">
                <a:solidFill>
                  <a:srgbClr val="FFFFFF"/>
                </a:solidFill>
                <a:latin typeface="Cambria" pitchFamily="34" charset="0"/>
                <a:ea typeface="Cambria" pitchFamily="34" charset="-122"/>
                <a:cs typeface="Cambria" pitchFamily="34" charset="-120"/>
              </a:rPr>
              <a:t>What domain</a:t>
            </a:r>
            <a:endParaRPr lang="en-US" sz="2200" dirty="0"/>
          </a:p>
          <a:p>
            <a:pPr indent="0" marL="0">
              <a:lnSpc>
                <a:spcPct val="105000"/>
              </a:lnSpc>
              <a:buNone/>
            </a:pPr>
            <a:r>
              <a:rPr lang="en-US" sz="2200" b="1" dirty="0">
                <a:solidFill>
                  <a:srgbClr val="FFFFFF"/>
                </a:solidFill>
                <a:latin typeface="Cambria" pitchFamily="34" charset="0"/>
                <a:ea typeface="Cambria" pitchFamily="34" charset="-122"/>
                <a:cs typeface="Cambria" pitchFamily="34" charset="-120"/>
              </a:rPr>
              <a:t>users want</a:t>
            </a:r>
            <a:endParaRPr lang="en-US" sz="2200" dirty="0"/>
          </a:p>
          <a:p>
            <a:pPr indent="0" marL="0">
              <a:lnSpc>
                <a:spcPct val="105000"/>
              </a:lnSpc>
              <a:buNone/>
            </a:pPr>
            <a:r>
              <a:rPr lang="en-US" sz="2200" b="1" dirty="0">
                <a:solidFill>
                  <a:srgbClr val="FFFFFF"/>
                </a:solidFill>
                <a:latin typeface="Cambria" pitchFamily="34" charset="0"/>
                <a:ea typeface="Cambria" pitchFamily="34" charset="-122"/>
                <a:cs typeface="Cambria" pitchFamily="34" charset="-120"/>
              </a:rPr>
              <a:t>from RAG</a:t>
            </a:r>
            <a:endParaRPr lang="en-US" sz="2200" dirty="0"/>
          </a:p>
        </p:txBody>
      </p:sp>
      <p:sp>
        <p:nvSpPr>
          <p:cNvPr id="5" name="Shape 3"/>
          <p:cNvSpPr/>
          <p:nvPr/>
        </p:nvSpPr>
        <p:spPr>
          <a:xfrm>
            <a:off x="731520" y="2514600"/>
            <a:ext cx="2057400" cy="0"/>
          </a:xfrm>
          <a:prstGeom prst="line">
            <a:avLst/>
          </a:prstGeom>
          <a:noFill/>
          <a:ln w="25400">
            <a:solidFill>
              <a:srgbClr val="02C39A"/>
            </a:solidFill>
            <a:prstDash val="solid"/>
          </a:ln>
        </p:spPr>
      </p:sp>
      <p:sp>
        <p:nvSpPr>
          <p:cNvPr id="6" name="Text 4"/>
          <p:cNvSpPr txBox="1"/>
          <p:nvPr/>
        </p:nvSpPr>
        <p:spPr>
          <a:xfrm>
            <a:off x="731520" y="2697480"/>
            <a:ext cx="2514600" cy="822960"/>
          </a:xfrm>
          <a:prstGeom prst="rect">
            <a:avLst/>
          </a:prstGeom>
          <a:noFill/>
          <a:ln/>
        </p:spPr>
        <p:txBody>
          <a:bodyPr wrap="square" lIns="0" tIns="0" rIns="0" bIns="0" rtlCol="0" anchor="ctr"/>
          <a:lstStyle/>
          <a:p>
            <a:pPr indent="0" marL="0">
              <a:buNone/>
            </a:pPr>
            <a:r>
              <a:rPr lang="en-US" sz="1350" b="1" dirty="0">
                <a:solidFill>
                  <a:srgbClr val="E3F3F1"/>
                </a:solidFill>
                <a:latin typeface="Calibri" pitchFamily="34" charset="0"/>
                <a:ea typeface="Calibri" pitchFamily="34" charset="-122"/>
                <a:cs typeface="Calibri" pitchFamily="34" charset="-120"/>
              </a:rPr>
              <a:t>Ravi &amp; Sindhgatta</a:t>
            </a:r>
            <a:endParaRPr lang="en-US" sz="1350" dirty="0"/>
          </a:p>
        </p:txBody>
      </p:sp>
      <p:sp>
        <p:nvSpPr>
          <p:cNvPr id="7" name="Text 5"/>
          <p:cNvSpPr txBox="1"/>
          <p:nvPr/>
        </p:nvSpPr>
        <p:spPr>
          <a:xfrm>
            <a:off x="731520" y="3291840"/>
            <a:ext cx="2514600" cy="1005840"/>
          </a:xfrm>
          <a:prstGeom prst="rect">
            <a:avLst/>
          </a:prstGeom>
          <a:noFill/>
          <a:ln/>
        </p:spPr>
        <p:txBody>
          <a:bodyPr wrap="square" lIns="0" tIns="0" rIns="0" bIns="0" rtlCol="0" anchor="ctr"/>
          <a:lstStyle/>
          <a:p>
            <a:pPr indent="0" marL="0">
              <a:buNone/>
            </a:pPr>
            <a:r>
              <a:rPr lang="en-US" sz="1150" i="1" dirty="0">
                <a:solidFill>
                  <a:srgbClr val="AEDAD6"/>
                </a:solidFill>
                <a:latin typeface="Calibri" pitchFamily="34" charset="0"/>
                <a:ea typeface="Calibri" pitchFamily="34" charset="-122"/>
                <a:cs typeface="Calibri" pitchFamily="34" charset="-120"/>
              </a:rPr>
              <a:t>Exploring Trust and Transparency in Retrieval-Augmented Generation for Domain Experts — CHI EA '25</a:t>
            </a:r>
            <a:endParaRPr lang="en-US" sz="1150" dirty="0"/>
          </a:p>
        </p:txBody>
      </p:sp>
      <p:sp>
        <p:nvSpPr>
          <p:cNvPr id="8" name="Text 6"/>
          <p:cNvSpPr txBox="1"/>
          <p:nvPr/>
        </p:nvSpPr>
        <p:spPr>
          <a:xfrm>
            <a:off x="731520" y="5577840"/>
            <a:ext cx="2514600" cy="502920"/>
          </a:xfrm>
          <a:prstGeom prst="rect">
            <a:avLst/>
          </a:prstGeom>
          <a:noFill/>
          <a:ln/>
        </p:spPr>
        <p:txBody>
          <a:bodyPr wrap="square" lIns="0" tIns="0" rIns="0" bIns="0" rtlCol="0" anchor="ctr"/>
          <a:lstStyle/>
          <a:p>
            <a:pPr indent="0" marL="0">
              <a:buNone/>
            </a:pPr>
            <a:r>
              <a:rPr lang="en-US" sz="950" dirty="0">
                <a:solidFill>
                  <a:srgbClr val="8FC4C0"/>
                </a:solidFill>
                <a:latin typeface="Calibri" pitchFamily="34" charset="0"/>
                <a:ea typeface="Calibri" pitchFamily="34" charset="-122"/>
                <a:cs typeface="Calibri" pitchFamily="34" charset="-120"/>
              </a:rPr>
              <a:t>ACM, 2025 · DOI 10.1145/3706599.3719985</a:t>
            </a:r>
            <a:endParaRPr lang="en-US" sz="950" dirty="0"/>
          </a:p>
        </p:txBody>
      </p:sp>
      <p:sp>
        <p:nvSpPr>
          <p:cNvPr id="9" name="Text 7"/>
          <p:cNvSpPr txBox="1"/>
          <p:nvPr/>
        </p:nvSpPr>
        <p:spPr>
          <a:xfrm>
            <a:off x="3794760" y="502920"/>
            <a:ext cx="7863840" cy="502920"/>
          </a:xfrm>
          <a:prstGeom prst="rect">
            <a:avLst/>
          </a:prstGeom>
          <a:noFill/>
          <a:ln/>
        </p:spPr>
        <p:txBody>
          <a:bodyPr wrap="square" lIns="0" tIns="0" rIns="0" bIns="0" rtlCol="0" anchor="ctr"/>
          <a:lstStyle/>
          <a:p>
            <a:pPr indent="0" marL="0">
              <a:lnSpc>
                <a:spcPct val="105000"/>
              </a:lnSpc>
              <a:buNone/>
            </a:pPr>
            <a:r>
              <a:rPr lang="en-US" sz="2100" b="1" dirty="0">
                <a:solidFill>
                  <a:srgbClr val="0D2B32"/>
                </a:solidFill>
                <a:latin typeface="Cambria" pitchFamily="34" charset="0"/>
                <a:ea typeface="Cambria" pitchFamily="34" charset="-122"/>
                <a:cs typeface="Cambria" pitchFamily="34" charset="-120"/>
              </a:rPr>
              <a:t>Trust and Transparency in RAG for Domain Experts</a:t>
            </a:r>
            <a:endParaRPr lang="en-US" sz="2100" dirty="0"/>
          </a:p>
        </p:txBody>
      </p:sp>
      <p:sp>
        <p:nvSpPr>
          <p:cNvPr id="10" name="Text 8"/>
          <p:cNvSpPr txBox="1"/>
          <p:nvPr/>
        </p:nvSpPr>
        <p:spPr>
          <a:xfrm>
            <a:off x="3794760" y="1115568"/>
            <a:ext cx="7863840" cy="1051560"/>
          </a:xfrm>
          <a:prstGeom prst="rect">
            <a:avLst/>
          </a:prstGeom>
          <a:noFill/>
          <a:ln/>
        </p:spPr>
        <p:txBody>
          <a:bodyPr wrap="square" lIns="0" tIns="0" rIns="0" bIns="0" rtlCol="0" anchor="ctr"/>
          <a:lstStyle/>
          <a:p>
            <a:pPr indent="0" marL="0">
              <a:lnSpc>
                <a:spcPct val="115000"/>
              </a:lnSpc>
              <a:buNone/>
            </a:pPr>
            <a:r>
              <a:rPr lang="en-US" sz="1450" dirty="0">
                <a:solidFill>
                  <a:srgbClr val="0D2B32"/>
                </a:solidFill>
                <a:latin typeface="Calibri" pitchFamily="34" charset="0"/>
                <a:ea typeface="Calibri" pitchFamily="34" charset="-122"/>
                <a:cs typeface="Calibri" pitchFamily="34" charset="-120"/>
              </a:rPr>
              <a:t>A study of 50 financial professionals using a RAG tool finds that confidence scores alone do not move trust, while source attribution does; open-ended responses show experts want control over which sources the system may draw from.</a:t>
            </a:r>
            <a:endParaRPr lang="en-US" sz="1450" dirty="0"/>
          </a:p>
        </p:txBody>
      </p:sp>
      <p:sp>
        <p:nvSpPr>
          <p:cNvPr id="11" name="Shape 9"/>
          <p:cNvSpPr/>
          <p:nvPr/>
        </p:nvSpPr>
        <p:spPr>
          <a:xfrm>
            <a:off x="3794760" y="2212848"/>
            <a:ext cx="7863840" cy="1417320"/>
          </a:xfrm>
          <a:prstGeom prst="roundRect">
            <a:avLst>
              <a:gd name="adj" fmla="val 5161"/>
            </a:avLst>
          </a:prstGeom>
          <a:solidFill>
            <a:srgbClr val="F1F7F7"/>
          </a:solidFill>
          <a:ln/>
        </p:spPr>
      </p:sp>
      <p:sp>
        <p:nvSpPr>
          <p:cNvPr id="12" name="Text 10"/>
          <p:cNvSpPr txBox="1"/>
          <p:nvPr/>
        </p:nvSpPr>
        <p:spPr>
          <a:xfrm>
            <a:off x="3931920" y="2167128"/>
            <a:ext cx="731520" cy="731520"/>
          </a:xfrm>
          <a:prstGeom prst="rect">
            <a:avLst/>
          </a:prstGeom>
          <a:noFill/>
          <a:ln/>
        </p:spPr>
        <p:txBody>
          <a:bodyPr wrap="square" lIns="0" tIns="0" rIns="0" bIns="0" rtlCol="0" anchor="ctr"/>
          <a:lstStyle/>
          <a:p>
            <a:pPr indent="0" marL="0">
              <a:buNone/>
            </a:pPr>
            <a:r>
              <a:rPr lang="en-US" sz="4600" b="1" dirty="0">
                <a:solidFill>
                  <a:srgbClr val="00A896"/>
                </a:solidFill>
                <a:latin typeface="Cambria" pitchFamily="34" charset="0"/>
                <a:ea typeface="Cambria" pitchFamily="34" charset="-122"/>
                <a:cs typeface="Cambria" pitchFamily="34" charset="-120"/>
              </a:rPr>
              <a:t>“</a:t>
            </a:r>
            <a:endParaRPr lang="en-US" sz="4600" dirty="0"/>
          </a:p>
        </p:txBody>
      </p:sp>
      <p:sp>
        <p:nvSpPr>
          <p:cNvPr id="13" name="Text 11"/>
          <p:cNvSpPr txBox="1"/>
          <p:nvPr/>
        </p:nvSpPr>
        <p:spPr>
          <a:xfrm>
            <a:off x="4434840" y="2377440"/>
            <a:ext cx="6949440" cy="1097280"/>
          </a:xfrm>
          <a:prstGeom prst="rect">
            <a:avLst/>
          </a:prstGeom>
          <a:noFill/>
          <a:ln/>
        </p:spPr>
        <p:txBody>
          <a:bodyPr wrap="square" lIns="0" tIns="0" rIns="0" bIns="0" rtlCol="0" anchor="ctr"/>
          <a:lstStyle/>
          <a:p>
            <a:pPr indent="0" marL="0">
              <a:lnSpc>
                <a:spcPct val="120000"/>
              </a:lnSpc>
              <a:buNone/>
            </a:pPr>
            <a:r>
              <a:rPr lang="en-US" sz="1350" i="1" dirty="0">
                <a:solidFill>
                  <a:srgbClr val="1B3C41"/>
                </a:solidFill>
                <a:latin typeface="Calibri" pitchFamily="34" charset="0"/>
                <a:ea typeface="Calibri" pitchFamily="34" charset="-122"/>
                <a:cs typeface="Calibri" pitchFamily="34" charset="-120"/>
              </a:rPr>
              <a:t>Control Over Sources: … 15 out of 50 participants highlighted the need to shortlist specific reports and trust certain sources, as evidenced by comments like, ‘I would personally trust some sources more than others.’</a:t>
            </a:r>
            <a:endParaRPr lang="en-US" sz="1350" dirty="0"/>
          </a:p>
        </p:txBody>
      </p:sp>
      <p:sp>
        <p:nvSpPr>
          <p:cNvPr id="14" name="Text 12"/>
          <p:cNvSpPr txBox="1"/>
          <p:nvPr/>
        </p:nvSpPr>
        <p:spPr>
          <a:xfrm>
            <a:off x="3794760" y="3858768"/>
            <a:ext cx="7863840" cy="274320"/>
          </a:xfrm>
          <a:prstGeom prst="rect">
            <a:avLst/>
          </a:prstGeom>
          <a:noFill/>
          <a:ln/>
        </p:spPr>
        <p:txBody>
          <a:bodyPr wrap="square" lIns="0" tIns="0" rIns="0" bIns="0" rtlCol="0" anchor="ctr"/>
          <a:lstStyle/>
          <a:p>
            <a:pPr indent="0" marL="0">
              <a:buNone/>
            </a:pPr>
            <a:r>
              <a:rPr lang="en-US" sz="1100" b="1" spc="150" kern="0" dirty="0">
                <a:solidFill>
                  <a:srgbClr val="00A896"/>
                </a:solidFill>
                <a:latin typeface="Calibri" pitchFamily="34" charset="0"/>
                <a:ea typeface="Calibri" pitchFamily="34" charset="-122"/>
                <a:cs typeface="Calibri" pitchFamily="34" charset="-120"/>
              </a:rPr>
              <a:t>HOW OUR APPROACH DIFFERS</a:t>
            </a:r>
            <a:endParaRPr lang="en-US" sz="1100" dirty="0"/>
          </a:p>
        </p:txBody>
      </p:sp>
      <p:sp>
        <p:nvSpPr>
          <p:cNvPr id="15" name="Text 13"/>
          <p:cNvSpPr txBox="1"/>
          <p:nvPr/>
        </p:nvSpPr>
        <p:spPr>
          <a:xfrm>
            <a:off x="3794760" y="4151376"/>
            <a:ext cx="7863840" cy="868680"/>
          </a:xfrm>
          <a:prstGeom prst="rect">
            <a:avLst/>
          </a:prstGeom>
          <a:noFill/>
          <a:ln/>
        </p:spPr>
        <p:txBody>
          <a:bodyPr wrap="square" lIns="0" tIns="0" rIns="0" bIns="0" rtlCol="0" anchor="ctr"/>
          <a:lstStyle/>
          <a:p>
            <a:pPr indent="0" marL="0">
              <a:lnSpc>
                <a:spcPct val="115000"/>
              </a:lnSpc>
              <a:buNone/>
            </a:pPr>
            <a:r>
              <a:rPr lang="en-US" sz="1300" dirty="0">
                <a:solidFill>
                  <a:srgbClr val="4C6B70"/>
                </a:solidFill>
                <a:latin typeface="Calibri" pitchFamily="34" charset="0"/>
                <a:ea typeface="Calibri" pitchFamily="34" charset="-122"/>
                <a:cs typeface="Calibri" pitchFamily="34" charset="-120"/>
              </a:rPr>
              <a:t>Ravi and Sindhgatta's system takes source control only before a query is asked, with no mid-task loop back to the user. Our System A escalates only at points the system itself flags as uncertain — the gap their finding motivates.</a:t>
            </a:r>
            <a:endParaRPr lang="en-US" sz="1300" dirty="0"/>
          </a:p>
        </p:txBody>
      </p:sp>
      <p:sp>
        <p:nvSpPr>
          <p:cNvPr id="16" name="Text 14"/>
          <p:cNvSpPr txBox="1"/>
          <p:nvPr/>
        </p:nvSpPr>
        <p:spPr>
          <a:xfrm>
            <a:off x="11475720" y="6446520"/>
            <a:ext cx="548640" cy="320040"/>
          </a:xfrm>
          <a:prstGeom prst="rect">
            <a:avLst/>
          </a:prstGeom>
          <a:noFill/>
          <a:ln/>
        </p:spPr>
        <p:txBody>
          <a:bodyPr wrap="square" lIns="0" tIns="0" rIns="0" bIns="0" rtlCol="0" anchor="ctr"/>
          <a:lstStyle/>
          <a:p>
            <a:pPr algn="r" indent="0" marL="0">
              <a:buNone/>
            </a:pPr>
            <a:r>
              <a:rPr lang="en-US" sz="1100" dirty="0">
                <a:solidFill>
                  <a:srgbClr val="4C6B70"/>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2E36"/>
        </a:solidFill>
      </p:bgPr>
    </p:bg>
    <p:spTree>
      <p:nvGrpSpPr>
        <p:cNvPr id="1" name=""/>
        <p:cNvGrpSpPr/>
        <p:nvPr/>
      </p:nvGrpSpPr>
      <p:grpSpPr>
        <a:xfrm>
          <a:off x="0" y="0"/>
          <a:ext cx="0" cy="0"/>
          <a:chOff x="0" y="0"/>
          <a:chExt cx="0" cy="0"/>
        </a:xfrm>
      </p:grpSpPr>
      <p:sp>
        <p:nvSpPr>
          <p:cNvPr id="2" name="Shape 0"/>
          <p:cNvSpPr/>
          <p:nvPr/>
        </p:nvSpPr>
        <p:spPr>
          <a:xfrm>
            <a:off x="-1828800" y="3840480"/>
            <a:ext cx="5029200" cy="5029200"/>
          </a:xfrm>
          <a:prstGeom prst="ellipse">
            <a:avLst/>
          </a:prstGeom>
          <a:solidFill>
            <a:srgbClr val="00A896">
              <a:alpha val="12000"/>
            </a:srgbClr>
          </a:solidFill>
          <a:ln/>
        </p:spPr>
      </p:sp>
      <p:sp>
        <p:nvSpPr>
          <p:cNvPr id="3" name="Text 1"/>
          <p:cNvSpPr txBox="1"/>
          <p:nvPr/>
        </p:nvSpPr>
        <p:spPr>
          <a:xfrm>
            <a:off x="640080" y="502920"/>
            <a:ext cx="7315200" cy="457200"/>
          </a:xfrm>
          <a:prstGeom prst="rect">
            <a:avLst/>
          </a:prstGeom>
          <a:noFill/>
          <a:ln/>
        </p:spPr>
        <p:txBody>
          <a:bodyPr wrap="square" lIns="0" tIns="0" rIns="0" bIns="0" rtlCol="0" anchor="ctr"/>
          <a:lstStyle/>
          <a:p>
            <a:pPr indent="0" marL="0">
              <a:buNone/>
            </a:pPr>
            <a:r>
              <a:rPr lang="en-US" sz="1600" b="1" spc="300" kern="0" dirty="0">
                <a:solidFill>
                  <a:srgbClr val="02C39A"/>
                </a:solidFill>
                <a:latin typeface="Calibri" pitchFamily="34" charset="0"/>
                <a:ea typeface="Calibri" pitchFamily="34" charset="-122"/>
                <a:cs typeface="Calibri" pitchFamily="34" charset="-120"/>
              </a:rPr>
              <a:t>THE GAP</a:t>
            </a:r>
            <a:endParaRPr lang="en-US" sz="1600" dirty="0"/>
          </a:p>
        </p:txBody>
      </p:sp>
      <p:sp>
        <p:nvSpPr>
          <p:cNvPr id="4" name="Text 2"/>
          <p:cNvSpPr txBox="1"/>
          <p:nvPr/>
        </p:nvSpPr>
        <p:spPr>
          <a:xfrm>
            <a:off x="594360" y="914400"/>
            <a:ext cx="10789920" cy="9144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An agentic pause, tested — not just described</a:t>
            </a:r>
            <a:endParaRPr lang="en-US" sz="3200" dirty="0"/>
          </a:p>
        </p:txBody>
      </p:sp>
      <p:sp>
        <p:nvSpPr>
          <p:cNvPr id="5" name="Shape 3"/>
          <p:cNvSpPr/>
          <p:nvPr/>
        </p:nvSpPr>
        <p:spPr>
          <a:xfrm>
            <a:off x="594360" y="1965960"/>
            <a:ext cx="10881360" cy="713232"/>
          </a:xfrm>
          <a:prstGeom prst="roundRect">
            <a:avLst>
              <a:gd name="adj" fmla="val 7692"/>
            </a:avLst>
          </a:prstGeom>
          <a:solidFill>
            <a:srgbClr val="12414A"/>
          </a:solidFill>
          <a:ln/>
        </p:spPr>
      </p:sp>
      <p:sp>
        <p:nvSpPr>
          <p:cNvPr id="6" name="Text 4"/>
          <p:cNvSpPr txBox="1"/>
          <p:nvPr/>
        </p:nvSpPr>
        <p:spPr>
          <a:xfrm>
            <a:off x="868680" y="2048256"/>
            <a:ext cx="3291840" cy="566928"/>
          </a:xfrm>
          <a:prstGeom prst="rect">
            <a:avLst/>
          </a:prstGeom>
          <a:noFill/>
          <a:ln/>
        </p:spPr>
        <p:txBody>
          <a:bodyPr wrap="square" lIns="0" tIns="0" rIns="0" bIns="0" rtlCol="0" anchor="ctr"/>
          <a:lstStyle/>
          <a:p>
            <a:pPr indent="0" marL="0">
              <a:lnSpc>
                <a:spcPct val="105000"/>
              </a:lnSpc>
              <a:buNone/>
            </a:pPr>
            <a:r>
              <a:rPr lang="en-US" sz="1350" b="1" dirty="0">
                <a:solidFill>
                  <a:srgbClr val="9FE6DF"/>
                </a:solidFill>
                <a:latin typeface="Calibri" pitchFamily="34" charset="0"/>
                <a:ea typeface="Calibri" pitchFamily="34" charset="-122"/>
                <a:cs typeface="Calibri" pitchFamily="34" charset="-120"/>
              </a:rPr>
              <a:t>Escalation as a design pattern</a:t>
            </a:r>
            <a:endParaRPr lang="en-US" sz="1350" dirty="0"/>
          </a:p>
        </p:txBody>
      </p:sp>
      <p:sp>
        <p:nvSpPr>
          <p:cNvPr id="7" name="Text 5"/>
          <p:cNvSpPr txBox="1"/>
          <p:nvPr/>
        </p:nvSpPr>
        <p:spPr>
          <a:xfrm>
            <a:off x="4297680" y="2048256"/>
            <a:ext cx="6995160" cy="566928"/>
          </a:xfrm>
          <a:prstGeom prst="rect">
            <a:avLst/>
          </a:prstGeom>
          <a:noFill/>
          <a:ln/>
        </p:spPr>
        <p:txBody>
          <a:bodyPr wrap="square" lIns="0" tIns="0" rIns="0" bIns="0" rtlCol="0" anchor="ctr"/>
          <a:lstStyle/>
          <a:p>
            <a:pPr indent="0" marL="0">
              <a:lnSpc>
                <a:spcPct val="105000"/>
              </a:lnSpc>
              <a:buNone/>
            </a:pPr>
            <a:r>
              <a:rPr lang="en-US" sz="1250" dirty="0">
                <a:solidFill>
                  <a:srgbClr val="D7ECEA"/>
                </a:solidFill>
                <a:latin typeface="Calibri" pitchFamily="34" charset="0"/>
                <a:ea typeface="Calibri" pitchFamily="34" charset="-122"/>
                <a:cs typeface="Calibri" pitchFamily="34" charset="-120"/>
              </a:rPr>
              <a:t>Mishra et al. (2026) name it; Sanchez-Adame and Mendoza (2026) specify the interruption policy — neither tests it as an independent variable.</a:t>
            </a:r>
            <a:endParaRPr lang="en-US" sz="1250" dirty="0"/>
          </a:p>
        </p:txBody>
      </p:sp>
      <p:sp>
        <p:nvSpPr>
          <p:cNvPr id="8" name="Shape 6"/>
          <p:cNvSpPr/>
          <p:nvPr/>
        </p:nvSpPr>
        <p:spPr>
          <a:xfrm>
            <a:off x="594360" y="2807208"/>
            <a:ext cx="10881360" cy="713232"/>
          </a:xfrm>
          <a:prstGeom prst="roundRect">
            <a:avLst>
              <a:gd name="adj" fmla="val 7692"/>
            </a:avLst>
          </a:prstGeom>
          <a:solidFill>
            <a:srgbClr val="12414A"/>
          </a:solidFill>
          <a:ln/>
        </p:spPr>
      </p:sp>
      <p:sp>
        <p:nvSpPr>
          <p:cNvPr id="9" name="Text 7"/>
          <p:cNvSpPr txBox="1"/>
          <p:nvPr/>
        </p:nvSpPr>
        <p:spPr>
          <a:xfrm>
            <a:off x="868680" y="2889504"/>
            <a:ext cx="3291840" cy="566928"/>
          </a:xfrm>
          <a:prstGeom prst="rect">
            <a:avLst/>
          </a:prstGeom>
          <a:noFill/>
          <a:ln/>
        </p:spPr>
        <p:txBody>
          <a:bodyPr wrap="square" lIns="0" tIns="0" rIns="0" bIns="0" rtlCol="0" anchor="ctr"/>
          <a:lstStyle/>
          <a:p>
            <a:pPr indent="0" marL="0">
              <a:lnSpc>
                <a:spcPct val="105000"/>
              </a:lnSpc>
              <a:buNone/>
            </a:pPr>
            <a:r>
              <a:rPr lang="en-US" sz="1350" b="1" dirty="0">
                <a:solidFill>
                  <a:srgbClr val="9FE6DF"/>
                </a:solidFill>
                <a:latin typeface="Calibri" pitchFamily="34" charset="0"/>
                <a:ea typeface="Calibri" pitchFamily="34" charset="-122"/>
                <a:cs typeface="Calibri" pitchFamily="34" charset="-120"/>
              </a:rPr>
              <a:t>Trust calibration — defined, not manipulated</a:t>
            </a:r>
            <a:endParaRPr lang="en-US" sz="1350" dirty="0"/>
          </a:p>
        </p:txBody>
      </p:sp>
      <p:sp>
        <p:nvSpPr>
          <p:cNvPr id="10" name="Text 8"/>
          <p:cNvSpPr txBox="1"/>
          <p:nvPr/>
        </p:nvSpPr>
        <p:spPr>
          <a:xfrm>
            <a:off x="4297680" y="2889504"/>
            <a:ext cx="6995160" cy="566928"/>
          </a:xfrm>
          <a:prstGeom prst="rect">
            <a:avLst/>
          </a:prstGeom>
          <a:noFill/>
          <a:ln/>
        </p:spPr>
        <p:txBody>
          <a:bodyPr wrap="square" lIns="0" tIns="0" rIns="0" bIns="0" rtlCol="0" anchor="ctr"/>
          <a:lstStyle/>
          <a:p>
            <a:pPr indent="0" marL="0">
              <a:lnSpc>
                <a:spcPct val="105000"/>
              </a:lnSpc>
              <a:buNone/>
            </a:pPr>
            <a:r>
              <a:rPr lang="en-US" sz="1250" dirty="0">
                <a:solidFill>
                  <a:srgbClr val="D7ECEA"/>
                </a:solidFill>
                <a:latin typeface="Calibri" pitchFamily="34" charset="0"/>
                <a:ea typeface="Calibri" pitchFamily="34" charset="-122"/>
                <a:cs typeface="Calibri" pitchFamily="34" charset="-120"/>
              </a:rPr>
              <a:t>Möhle et al. (2026), Chakraborti et al. (2018): calibration is measured against a fixed system, not compared across an escalating vs. non-escalating manipulation.</a:t>
            </a:r>
            <a:endParaRPr lang="en-US" sz="1250" dirty="0"/>
          </a:p>
        </p:txBody>
      </p:sp>
      <p:sp>
        <p:nvSpPr>
          <p:cNvPr id="11" name="Shape 9"/>
          <p:cNvSpPr/>
          <p:nvPr/>
        </p:nvSpPr>
        <p:spPr>
          <a:xfrm>
            <a:off x="594360" y="3648456"/>
            <a:ext cx="10881360" cy="713232"/>
          </a:xfrm>
          <a:prstGeom prst="roundRect">
            <a:avLst>
              <a:gd name="adj" fmla="val 7692"/>
            </a:avLst>
          </a:prstGeom>
          <a:solidFill>
            <a:srgbClr val="12414A"/>
          </a:solidFill>
          <a:ln/>
        </p:spPr>
      </p:sp>
      <p:sp>
        <p:nvSpPr>
          <p:cNvPr id="12" name="Text 10"/>
          <p:cNvSpPr txBox="1"/>
          <p:nvPr/>
        </p:nvSpPr>
        <p:spPr>
          <a:xfrm>
            <a:off x="868680" y="3730752"/>
            <a:ext cx="3291840" cy="566928"/>
          </a:xfrm>
          <a:prstGeom prst="rect">
            <a:avLst/>
          </a:prstGeom>
          <a:noFill/>
          <a:ln/>
        </p:spPr>
        <p:txBody>
          <a:bodyPr wrap="square" lIns="0" tIns="0" rIns="0" bIns="0" rtlCol="0" anchor="ctr"/>
          <a:lstStyle/>
          <a:p>
            <a:pPr indent="0" marL="0">
              <a:lnSpc>
                <a:spcPct val="105000"/>
              </a:lnSpc>
              <a:buNone/>
            </a:pPr>
            <a:r>
              <a:rPr lang="en-US" sz="1350" b="1" dirty="0">
                <a:solidFill>
                  <a:srgbClr val="9FE6DF"/>
                </a:solidFill>
                <a:latin typeface="Calibri" pitchFamily="34" charset="0"/>
                <a:ea typeface="Calibri" pitchFamily="34" charset="-122"/>
                <a:cs typeface="Calibri" pitchFamily="34" charset="-120"/>
              </a:rPr>
              <a:t>Learning impressions dissociate from outcomes</a:t>
            </a:r>
            <a:endParaRPr lang="en-US" sz="1350" dirty="0"/>
          </a:p>
        </p:txBody>
      </p:sp>
      <p:sp>
        <p:nvSpPr>
          <p:cNvPr id="13" name="Text 11"/>
          <p:cNvSpPr txBox="1"/>
          <p:nvPr/>
        </p:nvSpPr>
        <p:spPr>
          <a:xfrm>
            <a:off x="4297680" y="3730752"/>
            <a:ext cx="6995160" cy="566928"/>
          </a:xfrm>
          <a:prstGeom prst="rect">
            <a:avLst/>
          </a:prstGeom>
          <a:noFill/>
          <a:ln/>
        </p:spPr>
        <p:txBody>
          <a:bodyPr wrap="square" lIns="0" tIns="0" rIns="0" bIns="0" rtlCol="0" anchor="ctr"/>
          <a:lstStyle/>
          <a:p>
            <a:pPr indent="0" marL="0">
              <a:lnSpc>
                <a:spcPct val="105000"/>
              </a:lnSpc>
              <a:buNone/>
            </a:pPr>
            <a:r>
              <a:rPr lang="en-US" sz="1250" dirty="0">
                <a:solidFill>
                  <a:srgbClr val="D7ECEA"/>
                </a:solidFill>
                <a:latin typeface="Calibri" pitchFamily="34" charset="0"/>
                <a:ea typeface="Calibri" pitchFamily="34" charset="-122"/>
                <a:cs typeface="Calibri" pitchFamily="34" charset="-120"/>
              </a:rPr>
              <a:t>Clegg et al. (2022) show this for training media richness; no prior work shows it for an agentic escalation manipulation.</a:t>
            </a:r>
            <a:endParaRPr lang="en-US" sz="1250" dirty="0"/>
          </a:p>
        </p:txBody>
      </p:sp>
      <p:sp>
        <p:nvSpPr>
          <p:cNvPr id="14" name="Shape 12"/>
          <p:cNvSpPr/>
          <p:nvPr/>
        </p:nvSpPr>
        <p:spPr>
          <a:xfrm>
            <a:off x="594360" y="4489704"/>
            <a:ext cx="10881360" cy="713232"/>
          </a:xfrm>
          <a:prstGeom prst="roundRect">
            <a:avLst>
              <a:gd name="adj" fmla="val 7692"/>
            </a:avLst>
          </a:prstGeom>
          <a:solidFill>
            <a:srgbClr val="12414A"/>
          </a:solidFill>
          <a:ln/>
        </p:spPr>
      </p:sp>
      <p:sp>
        <p:nvSpPr>
          <p:cNvPr id="15" name="Text 13"/>
          <p:cNvSpPr txBox="1"/>
          <p:nvPr/>
        </p:nvSpPr>
        <p:spPr>
          <a:xfrm>
            <a:off x="868680" y="4572000"/>
            <a:ext cx="3291840" cy="566928"/>
          </a:xfrm>
          <a:prstGeom prst="rect">
            <a:avLst/>
          </a:prstGeom>
          <a:noFill/>
          <a:ln/>
        </p:spPr>
        <p:txBody>
          <a:bodyPr wrap="square" lIns="0" tIns="0" rIns="0" bIns="0" rtlCol="0" anchor="ctr"/>
          <a:lstStyle/>
          <a:p>
            <a:pPr indent="0" marL="0">
              <a:lnSpc>
                <a:spcPct val="105000"/>
              </a:lnSpc>
              <a:buNone/>
            </a:pPr>
            <a:r>
              <a:rPr lang="en-US" sz="1350" b="1" dirty="0">
                <a:solidFill>
                  <a:srgbClr val="9FE6DF"/>
                </a:solidFill>
                <a:latin typeface="Calibri" pitchFamily="34" charset="0"/>
                <a:ea typeface="Calibri" pitchFamily="34" charset="-122"/>
                <a:cs typeface="Calibri" pitchFamily="34" charset="-120"/>
              </a:rPr>
              <a:t>Users want source control, not just confidence</a:t>
            </a:r>
            <a:endParaRPr lang="en-US" sz="1350" dirty="0"/>
          </a:p>
        </p:txBody>
      </p:sp>
      <p:sp>
        <p:nvSpPr>
          <p:cNvPr id="16" name="Text 14"/>
          <p:cNvSpPr txBox="1"/>
          <p:nvPr/>
        </p:nvSpPr>
        <p:spPr>
          <a:xfrm>
            <a:off x="4297680" y="4572000"/>
            <a:ext cx="6995160" cy="566928"/>
          </a:xfrm>
          <a:prstGeom prst="rect">
            <a:avLst/>
          </a:prstGeom>
          <a:noFill/>
          <a:ln/>
        </p:spPr>
        <p:txBody>
          <a:bodyPr wrap="square" lIns="0" tIns="0" rIns="0" bIns="0" rtlCol="0" anchor="ctr"/>
          <a:lstStyle/>
          <a:p>
            <a:pPr indent="0" marL="0">
              <a:lnSpc>
                <a:spcPct val="105000"/>
              </a:lnSpc>
              <a:buNone/>
            </a:pPr>
            <a:r>
              <a:rPr lang="en-US" sz="1250" dirty="0">
                <a:solidFill>
                  <a:srgbClr val="D7ECEA"/>
                </a:solidFill>
                <a:latin typeface="Calibri" pitchFamily="34" charset="0"/>
                <a:ea typeface="Calibri" pitchFamily="34" charset="-122"/>
                <a:cs typeface="Calibri" pitchFamily="34" charset="-120"/>
              </a:rPr>
              <a:t>Ravi and Sindhgatta (2025) find experts want to shortlist trusted sources — but only before querying, never mid-task.</a:t>
            </a:r>
            <a:endParaRPr lang="en-US" sz="1250" dirty="0"/>
          </a:p>
        </p:txBody>
      </p:sp>
      <p:sp>
        <p:nvSpPr>
          <p:cNvPr id="17" name="Shape 15"/>
          <p:cNvSpPr/>
          <p:nvPr/>
        </p:nvSpPr>
        <p:spPr>
          <a:xfrm>
            <a:off x="594360" y="5330952"/>
            <a:ext cx="10881360" cy="713232"/>
          </a:xfrm>
          <a:prstGeom prst="roundRect">
            <a:avLst>
              <a:gd name="adj" fmla="val 7692"/>
            </a:avLst>
          </a:prstGeom>
          <a:solidFill>
            <a:srgbClr val="12414A"/>
          </a:solidFill>
          <a:ln/>
        </p:spPr>
      </p:sp>
      <p:sp>
        <p:nvSpPr>
          <p:cNvPr id="18" name="Text 16"/>
          <p:cNvSpPr txBox="1"/>
          <p:nvPr/>
        </p:nvSpPr>
        <p:spPr>
          <a:xfrm>
            <a:off x="868680" y="5413248"/>
            <a:ext cx="3291840" cy="566928"/>
          </a:xfrm>
          <a:prstGeom prst="rect">
            <a:avLst/>
          </a:prstGeom>
          <a:noFill/>
          <a:ln/>
        </p:spPr>
        <p:txBody>
          <a:bodyPr wrap="square" lIns="0" tIns="0" rIns="0" bIns="0" rtlCol="0" anchor="ctr"/>
          <a:lstStyle/>
          <a:p>
            <a:pPr indent="0" marL="0">
              <a:lnSpc>
                <a:spcPct val="105000"/>
              </a:lnSpc>
              <a:buNone/>
            </a:pPr>
            <a:r>
              <a:rPr lang="en-US" sz="1350" b="1" dirty="0">
                <a:solidFill>
                  <a:srgbClr val="9FE6DF"/>
                </a:solidFill>
                <a:latin typeface="Calibri" pitchFamily="34" charset="0"/>
                <a:ea typeface="Calibri" pitchFamily="34" charset="-122"/>
                <a:cs typeface="Calibri" pitchFamily="34" charset="-120"/>
              </a:rPr>
              <a:t>Uncontaminated proprietary corpora</a:t>
            </a:r>
            <a:endParaRPr lang="en-US" sz="1350" dirty="0"/>
          </a:p>
        </p:txBody>
      </p:sp>
      <p:sp>
        <p:nvSpPr>
          <p:cNvPr id="19" name="Text 17"/>
          <p:cNvSpPr txBox="1"/>
          <p:nvPr/>
        </p:nvSpPr>
        <p:spPr>
          <a:xfrm>
            <a:off x="4297680" y="5413248"/>
            <a:ext cx="6995160" cy="566928"/>
          </a:xfrm>
          <a:prstGeom prst="rect">
            <a:avLst/>
          </a:prstGeom>
          <a:noFill/>
          <a:ln/>
        </p:spPr>
        <p:txBody>
          <a:bodyPr wrap="square" lIns="0" tIns="0" rIns="0" bIns="0" rtlCol="0" anchor="ctr"/>
          <a:lstStyle/>
          <a:p>
            <a:pPr indent="0" marL="0">
              <a:lnSpc>
                <a:spcPct val="105000"/>
              </a:lnSpc>
              <a:buNone/>
            </a:pPr>
            <a:r>
              <a:rPr lang="en-US" sz="1250" dirty="0">
                <a:solidFill>
                  <a:srgbClr val="D7ECEA"/>
                </a:solidFill>
                <a:latin typeface="Calibri" pitchFamily="34" charset="0"/>
                <a:ea typeface="Calibri" pitchFamily="34" charset="-122"/>
                <a:cs typeface="Calibri" pitchFamily="34" charset="-120"/>
              </a:rPr>
              <a:t>Kirchenbauer et al. (2026) and Sharma et al. (2026) certify corpora are unlearnable — neither pairs this with a human-outcome study.</a:t>
            </a:r>
            <a:endParaRPr lang="en-US" sz="1250" dirty="0"/>
          </a:p>
        </p:txBody>
      </p:sp>
      <p:sp>
        <p:nvSpPr>
          <p:cNvPr id="20" name="Text 18"/>
          <p:cNvSpPr txBox="1"/>
          <p:nvPr/>
        </p:nvSpPr>
        <p:spPr>
          <a:xfrm>
            <a:off x="594360" y="6245352"/>
            <a:ext cx="10881360" cy="685800"/>
          </a:xfrm>
          <a:prstGeom prst="rect">
            <a:avLst/>
          </a:prstGeom>
          <a:noFill/>
          <a:ln/>
        </p:spPr>
        <p:txBody>
          <a:bodyPr wrap="square" lIns="0" tIns="0" rIns="0" bIns="0" rtlCol="0" anchor="ctr"/>
          <a:lstStyle/>
          <a:p>
            <a:pPr indent="0" marL="0">
              <a:lnSpc>
                <a:spcPct val="115000"/>
              </a:lnSpc>
              <a:buNone/>
            </a:pPr>
            <a:r>
              <a:rPr lang="en-US" sz="1350" i="1" dirty="0">
                <a:solidFill>
                  <a:srgbClr val="FFFFFF"/>
                </a:solidFill>
                <a:latin typeface="Calibri" pitchFamily="34" charset="0"/>
                <a:ea typeface="Calibri" pitchFamily="34" charset="-122"/>
                <a:cs typeface="Calibri" pitchFamily="34" charset="-120"/>
              </a:rPr>
              <a:t>Our contribution: one escalation manipulation, run as System A vs. System B on the same contamination-checked corpus, measured against graded expert trust (H1) and novice task performance (H2).</a:t>
            </a:r>
            <a:endParaRPr lang="en-US" sz="1350" dirty="0"/>
          </a:p>
        </p:txBody>
      </p:sp>
      <p:sp>
        <p:nvSpPr>
          <p:cNvPr id="21" name="Text 19"/>
          <p:cNvSpPr txBox="1"/>
          <p:nvPr/>
        </p:nvSpPr>
        <p:spPr>
          <a:xfrm>
            <a:off x="11475720" y="6446520"/>
            <a:ext cx="548640" cy="320040"/>
          </a:xfrm>
          <a:prstGeom prst="rect">
            <a:avLst/>
          </a:prstGeom>
          <a:noFill/>
          <a:ln/>
        </p:spPr>
        <p:txBody>
          <a:bodyPr wrap="square" lIns="0" tIns="0" rIns="0" bIns="0" rtlCol="0" anchor="ctr"/>
          <a:lstStyle/>
          <a:p>
            <a:pPr algn="r" indent="0" marL="0">
              <a:buNone/>
            </a:pPr>
            <a:r>
              <a:rPr lang="en-US" sz="1100" dirty="0">
                <a:solidFill>
                  <a:srgbClr val="4C6B70"/>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2026-09-20T16:00:46Z</dcterms:created>
  <dcterms:modified xsi:type="dcterms:W3CDTF">2026-09-20T16:00:46Z</dcterms:modified>
</cp:coreProperties>
</file>